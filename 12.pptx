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85" r:id="rId3"/>
    <p:sldId id="256" r:id="rId4"/>
    <p:sldId id="257" r:id="rId6"/>
    <p:sldId id="258" r:id="rId7"/>
    <p:sldId id="259" r:id="rId8"/>
    <p:sldId id="260" r:id="rId9"/>
    <p:sldId id="261" r:id="rId10"/>
    <p:sldId id="281" r:id="rId11"/>
    <p:sldId id="277" r:id="rId12"/>
    <p:sldId id="262" r:id="rId13"/>
    <p:sldId id="263" r:id="rId14"/>
    <p:sldId id="264" r:id="rId15"/>
    <p:sldId id="283" r:id="rId16"/>
    <p:sldId id="284" r:id="rId17"/>
    <p:sldId id="265" r:id="rId18"/>
    <p:sldId id="278" r:id="rId19"/>
    <p:sldId id="266" r:id="rId20"/>
    <p:sldId id="276" r:id="rId21"/>
    <p:sldId id="267" r:id="rId22"/>
    <p:sldId id="268" r:id="rId23"/>
    <p:sldId id="279" r:id="rId24"/>
    <p:sldId id="280" r:id="rId25"/>
    <p:sldId id="269" r:id="rId26"/>
    <p:sldId id="270" r:id="rId27"/>
    <p:sldId id="282" r:id="rId28"/>
    <p:sldId id="271" r:id="rId29"/>
    <p:sldId id="272" r:id="rId30"/>
    <p:sldId id="273" r:id="rId31"/>
    <p:sldId id="274" r:id="rId32"/>
    <p:sldId id="275" r:id="rId3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7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9144000" cy="51339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545" y="3625215"/>
            <a:ext cx="118491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015901"/>
            <a:ext cx="76200" cy="3048000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3000" y="1015901"/>
            <a:ext cx="725413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dirty="0">
                <a:solidFill>
                  <a:srgbClr val="8C7A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CLAUDE CODE · SHARING SESSION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1358801"/>
            <a:ext cx="7254139" cy="642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60"/>
              </a:lnSpc>
              <a:spcAft>
                <a:spcPts val="1600"/>
              </a:spcAft>
              <a:buNone/>
            </a:pPr>
            <a:r>
              <a:rPr lang="en-US" sz="4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一人多栈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143000" y="2204591"/>
            <a:ext cx="7254139" cy="319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Aft>
                <a:spcPts val="4000"/>
              </a:spcAft>
              <a:buNone/>
            </a:pPr>
            <a:r>
              <a:rPr lang="en-US" sz="18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驱动 Java / Go/ Rust</a:t>
            </a:r>
            <a:r>
              <a:rPr lang="en-US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  <a:sym typeface="+mn-ea"/>
              </a:rPr>
              <a:t> / Python </a:t>
            </a:r>
            <a:r>
              <a:rPr lang="en-US" sz="18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全栈协同开发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4305300"/>
            <a:ext cx="466915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8C7A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autobots工作台协同实战 · </a:t>
            </a: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2026.04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8C7A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AGENDA · QUALITY THROUGH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31750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今天讲什么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2000" y="1388864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010989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0701" y="1072902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盘子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251" y="961876"/>
            <a:ext cx="248777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一人 4 栈的质量负荷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251" y="1184077"/>
            <a:ext cx="248777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栈 × 4 环境 × 15 模块 · 一个人凭什么保质量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62000" y="1896814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1518940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0701" y="1580852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痛点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251" y="1469827"/>
            <a:ext cx="252162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多栈的真实质量代价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251" y="1692027"/>
            <a:ext cx="252162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注意力切碎 / 契约漂移 / 坑踩两遍 / 长任务断档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62000" y="2404765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2026890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20701" y="2088803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方法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251" y="1977777"/>
            <a:ext cx="314751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三件套 = 三把质量尺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57251" y="2199977"/>
            <a:ext cx="314751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锁纪律 · Sub-agent 并行审 · Skill+Hook 闸门续跑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2000" y="2912715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2534841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0701" y="2596753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57251" y="2485727"/>
            <a:ext cx="2846642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纪律怎么存：4 层金字塔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251" y="2707928"/>
            <a:ext cx="284664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 CLAUDE.md · 全局 rules · memory · skill+hook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2000" y="3420666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3042791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20701" y="3104704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跑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251" y="2993678"/>
            <a:ext cx="277878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纪律怎么跑：跨栈并行 + 续跑闭环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57251" y="3215878"/>
            <a:ext cx="277878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条泳道 · feature 链路 · preset · ralph-loop + Hook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2000" y="3928616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3550741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20701" y="3612654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57251" y="3501628"/>
            <a:ext cx="2549408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纪律怎么验：度量 · 契约 · 反模式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251" y="3723829"/>
            <a:ext cx="254940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数字对账 · Java/Go/Python/TS 契约 · 避坑清单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2000" y="4436566"/>
            <a:ext cx="7620000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" y="4058692"/>
            <a:ext cx="569875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320701" y="4120604"/>
            <a:ext cx="7512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057251" y="4009579"/>
            <a:ext cx="1876306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核心观点 &amp; Q&amp;A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057251" y="4231779"/>
            <a:ext cx="1876306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9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质量 = 纪律 × AI 执行 × Hook 兜底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8C7A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 · THE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638175"/>
            <a:ext cx="7772400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一个人的盘子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577876"/>
            <a:ext cx="1752600" cy="240923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62000" y="1601688"/>
            <a:ext cx="1752600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150" y="1828651"/>
            <a:ext cx="137322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65150" y="2514451"/>
            <a:ext cx="137322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PROD LANGUAGE STACKS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5200" y="3073400"/>
            <a:ext cx="2411730" cy="710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· Go · Python · </a:t>
            </a:r>
            <a:endParaRPr lang="en-US" sz="1000" dirty="0">
              <a:solidFill>
                <a:srgbClr val="1E1B1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TS/React· Rust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17750" y="1577876"/>
            <a:ext cx="1752600" cy="240923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17750" y="1601688"/>
            <a:ext cx="1752600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0901" y="1828651"/>
            <a:ext cx="137322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920901" y="2514451"/>
            <a:ext cx="137322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ENVIRONMENTS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0901" y="2768352"/>
            <a:ext cx="1373225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dev · pre · poc · prod 各有独立配置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73501" y="1577876"/>
            <a:ext cx="1752600" cy="240923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73501" y="1601688"/>
            <a:ext cx="1752600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651" y="1828651"/>
            <a:ext cx="137322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15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876651" y="2514451"/>
            <a:ext cx="137322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PLATFORM MODULES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6800" y="2921000"/>
            <a:ext cx="325818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auth · agent · </a:t>
            </a:r>
            <a:endParaRPr lang="en-US" sz="1000" dirty="0">
              <a:solidFill>
                <a:srgbClr val="1E1B1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store · observe ·</a:t>
            </a:r>
            <a:endParaRPr lang="en-US" sz="1000" dirty="0">
              <a:solidFill>
                <a:srgbClr val="1E1B1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tenant · discovery ...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251" y="1577876"/>
            <a:ext cx="1752600" cy="240923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629251" y="1601688"/>
            <a:ext cx="1752600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2402" y="1828651"/>
            <a:ext cx="1373225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6+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6832402" y="2514451"/>
            <a:ext cx="1373225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11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INFRA COMPONENTS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2600" y="2921000"/>
            <a:ext cx="335597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Nacos · MySQL · </a:t>
            </a:r>
            <a:endParaRPr lang="en-US" sz="1000" dirty="0">
              <a:solidFill>
                <a:srgbClr val="1E1B1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Redis · MinIO · </a:t>
            </a:r>
            <a:endParaRPr lang="en-US" sz="1000" dirty="0">
              <a:solidFill>
                <a:srgbClr val="1E1B16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l">
              <a:lnSpc>
                <a:spcPts val="1400"/>
              </a:lnSpc>
              <a:spcBef>
                <a:spcPts val="800"/>
              </a:spcBef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LanceDB · Grafana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2000" y="4190256"/>
            <a:ext cx="7620000" cy="779859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15901" y="4342656"/>
            <a:ext cx="7254442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Frontend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React 18 + TS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Gateway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Spring Cloud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Core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Java 21 × 4 微服务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5901" y="4580186"/>
            <a:ext cx="7254442" cy="237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70"/>
              </a:lnSpc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Orchestrator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Go 1.21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Runtime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Python (legacy) · Agent 协议层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</a:t>
            </a: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Infra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Nacos 统配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77240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8C7A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 · THE QUALITY COST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409575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一人多栈，不是"烦"，是</a:t>
            </a: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容易错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38200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切语言比切分支贵得多 — 真正的代价不是时间，是质量</a:t>
            </a:r>
            <a:endParaRPr lang="en-US" sz="1100" dirty="0"/>
          </a:p>
        </p:txBody>
      </p:sp>
      <p:sp>
        <p:nvSpPr>
          <p:cNvPr id="5" name="Text 3"/>
          <p:cNvSpPr/>
          <p:nvPr>
            <p:custDataLst>
              <p:tags r:id="rId1"/>
            </p:custDataLst>
          </p:nvPr>
        </p:nvSpPr>
        <p:spPr>
          <a:xfrm>
            <a:off x="762000" y="1139726"/>
            <a:ext cx="7620000" cy="9395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90575" y="1139726"/>
            <a:ext cx="0" cy="939552"/>
          </a:xfrm>
          <a:prstGeom prst="line">
            <a:avLst/>
          </a:prstGeom>
          <a:noFill/>
          <a:ln w="5715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996851" y="1469827"/>
            <a:ext cx="466344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454051" y="1190476"/>
            <a:ext cx="10102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注意力被切碎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2571452" y="1257151"/>
            <a:ext cx="13597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QUALITY COST · 盲区</a:t>
            </a:r>
            <a:endParaRPr lang="en-US" sz="8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454051" y="1431727"/>
            <a:ext cx="6885253" cy="1808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跳 Go 再跳 TS — 脑子每切一次语言，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之前栈的检查项容易漏一个</a:t>
            </a: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。单人审查容易留盲区</a:t>
            </a:r>
            <a:endParaRPr lang="en-US" sz="1000" dirty="0"/>
          </a:p>
        </p:txBody>
      </p:sp>
      <p:sp>
        <p:nvSpPr>
          <p:cNvPr id="11" name="Text 9"/>
          <p:cNvSpPr/>
          <p:nvPr>
            <p:custDataLst>
              <p:tags r:id="rId7"/>
            </p:custDataLst>
          </p:nvPr>
        </p:nvSpPr>
        <p:spPr>
          <a:xfrm>
            <a:off x="762000" y="2117378"/>
            <a:ext cx="7620000" cy="9395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790575" y="2117378"/>
            <a:ext cx="0" cy="939552"/>
          </a:xfrm>
          <a:prstGeom prst="line">
            <a:avLst/>
          </a:prstGeom>
          <a:noFill/>
          <a:ln w="5715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996851" y="2447479"/>
            <a:ext cx="466344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454051" y="2168128"/>
            <a:ext cx="101026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跨栈契约会漂</a:t>
            </a:r>
            <a:endParaRPr lang="en-US" sz="1300" dirty="0"/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2571452" y="2234803"/>
            <a:ext cx="135971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QUALITY COST · 漂移</a:t>
            </a:r>
            <a:endParaRPr lang="en-US" sz="8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454051" y="2409379"/>
            <a:ext cx="6885253" cy="1808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改字段 → Python 还在用旧版 → TS 类型报错 → Go 透传错误。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四栈对齐靠人眼 = 靠不住</a:t>
            </a:r>
            <a:endParaRPr lang="en-US" sz="1000" dirty="0"/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762000" y="3095030"/>
            <a:ext cx="7620000" cy="9395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790575" y="3095030"/>
            <a:ext cx="0" cy="939552"/>
          </a:xfrm>
          <a:prstGeom prst="line">
            <a:avLst/>
          </a:prstGeom>
          <a:noFill/>
          <a:ln w="5715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996851" y="3425130"/>
            <a:ext cx="466344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454051" y="3145780"/>
            <a:ext cx="134696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同一个坑会踩两遍</a:t>
            </a:r>
            <a:endParaRPr lang="en-US" sz="130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2901553" y="3212455"/>
            <a:ext cx="159273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QUALITY COST · 重复事故</a:t>
            </a:r>
            <a:endParaRPr lang="en-US" sz="800" dirty="0"/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454051" y="3387030"/>
            <a:ext cx="6885253" cy="1808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zh-CN" alt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上次</a:t>
            </a: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Flyway 在 pre 翻过车。今天再写 migration 还是同样的配置 — 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规则没落地的纪律等于没纪律</a:t>
            </a:r>
            <a:endParaRPr lang="en-US" sz="10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762000" y="4072682"/>
            <a:ext cx="7620000" cy="9395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790575" y="4072682"/>
            <a:ext cx="0" cy="939552"/>
          </a:xfrm>
          <a:prstGeom prst="line">
            <a:avLst/>
          </a:prstGeom>
          <a:noFill/>
          <a:ln w="57150">
            <a:solidFill>
              <a:srgbClr val="CC785C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996851" y="4402782"/>
            <a:ext cx="466344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1454051" y="4123432"/>
            <a:ext cx="117861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长任务中途断档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2736503" y="4190107"/>
            <a:ext cx="1592735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QUALITY COST · 半截工程</a:t>
            </a:r>
            <a:endParaRPr lang="en-US" sz="8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1454051" y="4364682"/>
            <a:ext cx="6885253" cy="1808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 4 栈统一 error code 这种活，一次写不完。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session 结束 = 任务断档 = 对齐不全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 · THREE TOOLS FOR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561975"/>
            <a:ext cx="7772400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000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三件套 = </a:t>
            </a:r>
            <a:r>
              <a:rPr lang="en-US" sz="3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三把质量尺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171575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纪律要被存下来、被执行、被验收 — 三件套各管一件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654076"/>
            <a:ext cx="2421582" cy="2426047"/>
          </a:xfrm>
          <a:prstGeom prst="rect">
            <a:avLst/>
          </a:prstGeom>
          <a:solidFill>
            <a:srgbClr val="2A262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1654076"/>
            <a:ext cx="2421582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150" y="1879402"/>
            <a:ext cx="20555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/ MEMORY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5150" y="2088952"/>
            <a:ext cx="2055587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锁住纪律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5150" y="2454027"/>
            <a:ext cx="205558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纪律的"存储层"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5150" y="2736503"/>
            <a:ext cx="2055587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9BCA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踩过的坑、对过的齐、定过的规则 — 一次写入，所有后续会话受益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5150" y="3346222"/>
            <a:ext cx="2015282" cy="0"/>
          </a:xfrm>
          <a:prstGeom prst="line">
            <a:avLst/>
          </a:prstGeom>
          <a:noFill/>
          <a:ln w="9525">
            <a:solidFill>
              <a:srgbClr val="3A36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150" y="3427184"/>
            <a:ext cx="2055587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SOLVES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5150" y="3589705"/>
            <a:ext cx="2055587" cy="3083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同一个坑不再踩第二遍 · 跨栈状态 AI 不乱动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1283" y="1654076"/>
            <a:ext cx="2421582" cy="2426047"/>
          </a:xfrm>
          <a:prstGeom prst="rect">
            <a:avLst/>
          </a:prstGeom>
          <a:solidFill>
            <a:srgbClr val="2A262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61283" y="1677888"/>
            <a:ext cx="2421582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4434" y="1879402"/>
            <a:ext cx="20555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/ SUB-AGENT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4434" y="2088952"/>
            <a:ext cx="2055587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并行审查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64434" y="2454027"/>
            <a:ext cx="205558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纪律的"执行层"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4434" y="2736503"/>
            <a:ext cx="2055587" cy="533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9BCA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多专家并行审 — security / build / db / e2e 各盯一块，人只做调度和裁决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4434" y="3346222"/>
            <a:ext cx="2015282" cy="0"/>
          </a:xfrm>
          <a:prstGeom prst="line">
            <a:avLst/>
          </a:prstGeom>
          <a:noFill/>
          <a:ln w="9525">
            <a:solidFill>
              <a:srgbClr val="3A36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4434" y="3427184"/>
            <a:ext cx="2055587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SOLVES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64434" y="3589705"/>
            <a:ext cx="2055587" cy="3083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单人注意力盲区 · 跨栈契约漂移 · 分支并跑冲突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60566" y="1654076"/>
            <a:ext cx="2421582" cy="2426047"/>
          </a:xfrm>
          <a:prstGeom prst="rect">
            <a:avLst/>
          </a:prstGeom>
          <a:solidFill>
            <a:srgbClr val="2A2620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960566" y="1677888"/>
            <a:ext cx="2421582" cy="0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717" y="1879402"/>
            <a:ext cx="2055587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/ SKILL + HOOK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63717" y="2088952"/>
            <a:ext cx="2055587" cy="314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闸门 + 续跑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63717" y="2454027"/>
            <a:ext cx="2055587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纪律的"验收层"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63717" y="2736503"/>
            <a:ext cx="2055587" cy="5331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C9BCA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ralph-loop 用 promise 定"什么算完" · Hook 在 toolCall 时自动拦截格式/安全/调试痕迹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717" y="3346222"/>
            <a:ext cx="2015282" cy="0"/>
          </a:xfrm>
          <a:prstGeom prst="line">
            <a:avLst/>
          </a:prstGeom>
          <a:noFill/>
          <a:ln w="9525">
            <a:solidFill>
              <a:srgbClr val="3A36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717" y="3427184"/>
            <a:ext cx="2055587" cy="137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SOLVES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63717" y="3589705"/>
            <a:ext cx="2055587" cy="3083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长任务中途断档 · console.log 混入 · push 未审先发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03.0 · DISCIPLINE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5705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纪律怎么存：四层约束金字塔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98327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不是自觉讲质量 — 是你把质量规则"存"到它能看见的地方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76052"/>
            <a:ext cx="1015901" cy="527745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07740" y="1397050"/>
            <a:ext cx="126909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77901" y="1276052"/>
            <a:ext cx="6604099" cy="52774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796951" y="1276052"/>
            <a:ext cx="0" cy="527745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702" y="1374428"/>
            <a:ext cx="145307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 CLAUDE.md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19785" y="1364903"/>
            <a:ext cx="160654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仓库级 · 随 git 版本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93702" y="1552129"/>
            <a:ext cx="6334810" cy="1628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项目根目录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./CLAUDE.md</a:t>
            </a: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— 4 栈架构 / 端口 / Nacos 命名空间 / 部署规则。团队人人可见，人人可改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2000" y="1854547"/>
            <a:ext cx="1015901" cy="527745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327" y="1975545"/>
            <a:ext cx="162279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77901" y="1854547"/>
            <a:ext cx="6604099" cy="52774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796951" y="1854547"/>
            <a:ext cx="0" cy="527745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702" y="1952923"/>
            <a:ext cx="1025744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GLOBAL RULES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0834" y="1943398"/>
            <a:ext cx="132146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用户级 · 私人纪律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93702" y="2130623"/>
            <a:ext cx="6334810" cy="1628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全局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~/.claude/rules/*.md</a:t>
            </a: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— coding-style / git-workflow / security / testing 跨项目通用纪律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2000" y="2433042"/>
            <a:ext cx="1015901" cy="690563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90625" y="2635448"/>
            <a:ext cx="161824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77901" y="2433042"/>
            <a:ext cx="6604099" cy="69056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796951" y="2433042"/>
            <a:ext cx="0" cy="69056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702" y="2531418"/>
            <a:ext cx="512948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MEMORY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98093" y="2521893"/>
            <a:ext cx="145094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会话跨轮 · 自动增长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702" y="2709118"/>
            <a:ext cx="6334810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~/.claude/projects/.../memory/</a:t>
            </a: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下 12 feedback + 19 project + 3 其他 =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34 条索引</a:t>
            </a: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— 每踩一次坑就多一条约束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2000" y="3174355"/>
            <a:ext cx="1015901" cy="527745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87351" y="3295352"/>
            <a:ext cx="168351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77901" y="3174355"/>
            <a:ext cx="6604099" cy="527745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796951" y="3174355"/>
            <a:ext cx="0" cy="527745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702" y="3272730"/>
            <a:ext cx="111121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SKILL + HOOKS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84624" y="3263205"/>
            <a:ext cx="93284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按需 + 自动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702" y="3450431"/>
            <a:ext cx="6334810" cy="1628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 描述匹配时注入（ralph-loop/qa/ship） · Hook 在特定时刻自动拦截（PreToolUse / Stop）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2000" y="3829050"/>
            <a:ext cx="7620000" cy="380702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85813" y="3829050"/>
            <a:ext cx="0" cy="38070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2775" y="3930551"/>
            <a:ext cx="7309396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为什么这是金字塔：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1-2 层变化慢 · 3 层随项目增长 · 4 层每次动作即时执行。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越底层越慢越稳，越顶层越快越精准。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762000" y="1269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02.9 · CLAUDE.MD · 3-LAYER CONTEXT · VERBATIM</a:t>
            </a:r>
            <a:endParaRPr lang="en-US" sz="1050" dirty="0"/>
          </a:p>
        </p:txBody>
      </p:sp>
      <p:sp>
        <p:nvSpPr>
          <p:cNvPr id="77" name="Text 1"/>
          <p:cNvSpPr/>
          <p:nvPr/>
        </p:nvSpPr>
        <p:spPr>
          <a:xfrm>
            <a:off x="762000" y="304651"/>
            <a:ext cx="77724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CLAUDE.md 三层原文：每次对话自动注入</a:t>
            </a:r>
            <a:endParaRPr lang="en-US" sz="2000" dirty="0"/>
          </a:p>
        </p:txBody>
      </p:sp>
      <p:sp>
        <p:nvSpPr>
          <p:cNvPr id="78" name="Text 2"/>
          <p:cNvSpPr/>
          <p:nvPr/>
        </p:nvSpPr>
        <p:spPr>
          <a:xfrm>
            <a:off x="762000" y="682377"/>
            <a:ext cx="7772400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规则靠手写 — 每层原文都是从实际文件抠出来的</a:t>
            </a:r>
            <a:endParaRPr lang="en-US" sz="1050" dirty="0"/>
          </a:p>
        </p:txBody>
      </p:sp>
      <p:sp>
        <p:nvSpPr>
          <p:cNvPr id="79" name="Text 3"/>
          <p:cNvSpPr/>
          <p:nvPr/>
        </p:nvSpPr>
        <p:spPr>
          <a:xfrm>
            <a:off x="762000" y="974378"/>
            <a:ext cx="7620000" cy="102244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Shape 4"/>
          <p:cNvSpPr/>
          <p:nvPr/>
        </p:nvSpPr>
        <p:spPr>
          <a:xfrm>
            <a:off x="785813" y="974378"/>
            <a:ext cx="0" cy="1022449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81" name="Text 5"/>
          <p:cNvSpPr/>
          <p:nvPr/>
        </p:nvSpPr>
        <p:spPr>
          <a:xfrm>
            <a:off x="936575" y="1037779"/>
            <a:ext cx="168396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L1 · GLOBAL</a:t>
            </a:r>
            <a:endParaRPr lang="en-US" sz="800" dirty="0"/>
          </a:p>
        </p:txBody>
      </p:sp>
      <p:sp>
        <p:nvSpPr>
          <p:cNvPr id="82" name="Text 6"/>
          <p:cNvSpPr/>
          <p:nvPr/>
        </p:nvSpPr>
        <p:spPr>
          <a:xfrm>
            <a:off x="936575" y="1164729"/>
            <a:ext cx="168396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~/.claude/CLAUDE.md</a:t>
            </a:r>
            <a:endParaRPr lang="en-US" sz="800" dirty="0"/>
          </a:p>
        </p:txBody>
      </p:sp>
      <p:sp>
        <p:nvSpPr>
          <p:cNvPr id="83" name="Text 7"/>
          <p:cNvSpPr/>
          <p:nvPr/>
        </p:nvSpPr>
        <p:spPr>
          <a:xfrm>
            <a:off x="936575" y="1291679"/>
            <a:ext cx="1683969" cy="121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~350 行 · 所有项目共用</a:t>
            </a:r>
            <a:endParaRPr lang="en-US" sz="800" dirty="0"/>
          </a:p>
        </p:txBody>
      </p:sp>
      <p:sp>
        <p:nvSpPr>
          <p:cNvPr id="84" name="Text 8"/>
          <p:cNvSpPr/>
          <p:nvPr/>
        </p:nvSpPr>
        <p:spPr>
          <a:xfrm>
            <a:off x="2689027" y="1037779"/>
            <a:ext cx="5566023" cy="895648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9"/>
          <p:cNvSpPr/>
          <p:nvPr/>
        </p:nvSpPr>
        <p:spPr>
          <a:xfrm>
            <a:off x="2790527" y="1088529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</a:t>
            </a:r>
            <a:r>
              <a:rPr lang="en-US" sz="68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智能体生态系统 - 精简调度器 v3.0</a:t>
            </a:r>
            <a:endParaRPr lang="en-US" sz="680" dirty="0"/>
          </a:p>
        </p:txBody>
      </p:sp>
      <p:sp>
        <p:nvSpPr>
          <p:cNvPr id="86" name="Text 10"/>
          <p:cNvSpPr/>
          <p:nvPr/>
        </p:nvSpPr>
        <p:spPr>
          <a:xfrm>
            <a:off x="2790527" y="1187797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##</a:t>
            </a: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🎯 核心原则（必须遵守）</a:t>
            </a:r>
            <a:endParaRPr lang="en-US" sz="680" dirty="0"/>
          </a:p>
        </p:txBody>
      </p:sp>
      <p:sp>
        <p:nvSpPr>
          <p:cNvPr id="87" name="Text 11"/>
          <p:cNvSpPr/>
          <p:nvPr/>
        </p:nvSpPr>
        <p:spPr>
          <a:xfrm>
            <a:off x="2790527" y="1287066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**第一性原理**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回归问题本质推导方案</a:t>
            </a:r>
            <a:endParaRPr lang="en-US" sz="680" dirty="0"/>
          </a:p>
        </p:txBody>
      </p:sp>
      <p:sp>
        <p:nvSpPr>
          <p:cNvPr id="88" name="Text 12"/>
          <p:cNvSpPr/>
          <p:nvPr/>
        </p:nvSpPr>
        <p:spPr>
          <a:xfrm>
            <a:off x="2790527" y="1386334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**DRY**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避免重复代码 · 3.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**KISS**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保持简单</a:t>
            </a:r>
            <a:endParaRPr lang="en-US" sz="680" dirty="0"/>
          </a:p>
        </p:txBody>
      </p:sp>
      <p:sp>
        <p:nvSpPr>
          <p:cNvPr id="89" name="Text 13"/>
          <p:cNvSpPr/>
          <p:nvPr/>
        </p:nvSpPr>
        <p:spPr>
          <a:xfrm>
            <a:off x="2790527" y="1485602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5.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**YAGNI**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不实现当前不需要的功能</a:t>
            </a:r>
            <a:endParaRPr lang="en-US" sz="680" dirty="0"/>
          </a:p>
        </p:txBody>
      </p:sp>
      <p:sp>
        <p:nvSpPr>
          <p:cNvPr id="90" name="Text 14"/>
          <p:cNvSpPr/>
          <p:nvPr/>
        </p:nvSpPr>
        <p:spPr>
          <a:xfrm>
            <a:off x="2790527" y="1584871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**500行规则**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超过500行必须拆分</a:t>
            </a:r>
            <a:endParaRPr lang="en-US" sz="680" dirty="0"/>
          </a:p>
        </p:txBody>
      </p:sp>
      <p:sp>
        <p:nvSpPr>
          <p:cNvPr id="91" name="Text 15"/>
          <p:cNvSpPr/>
          <p:nvPr/>
        </p:nvSpPr>
        <p:spPr>
          <a:xfrm>
            <a:off x="2790527" y="1684139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**Python项目**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统一使用 </a:t>
            </a:r>
            <a:r>
              <a:rPr lang="en-US" sz="68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`uv`</a:t>
            </a:r>
            <a:endParaRPr lang="en-US" sz="680" dirty="0"/>
          </a:p>
        </p:txBody>
      </p:sp>
      <p:sp>
        <p:nvSpPr>
          <p:cNvPr id="92" name="Text 16"/>
          <p:cNvSpPr/>
          <p:nvPr/>
        </p:nvSpPr>
        <p:spPr>
          <a:xfrm>
            <a:off x="2790527" y="1783407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8. </a:t>
            </a: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**错误暴露**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积极暴露错误，拒绝回退</a:t>
            </a:r>
            <a:endParaRPr lang="en-US" sz="680" dirty="0"/>
          </a:p>
        </p:txBody>
      </p:sp>
      <p:sp>
        <p:nvSpPr>
          <p:cNvPr id="93" name="Text 17"/>
          <p:cNvSpPr/>
          <p:nvPr/>
        </p:nvSpPr>
        <p:spPr>
          <a:xfrm>
            <a:off x="762000" y="2047577"/>
            <a:ext cx="7620000" cy="122098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Shape 18"/>
          <p:cNvSpPr/>
          <p:nvPr/>
        </p:nvSpPr>
        <p:spPr>
          <a:xfrm>
            <a:off x="785813" y="2047577"/>
            <a:ext cx="0" cy="1220986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95" name="Text 19"/>
          <p:cNvSpPr/>
          <p:nvPr/>
        </p:nvSpPr>
        <p:spPr>
          <a:xfrm>
            <a:off x="936575" y="2110978"/>
            <a:ext cx="168396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L2 · PROJECT</a:t>
            </a:r>
            <a:endParaRPr lang="en-US" sz="800" dirty="0"/>
          </a:p>
        </p:txBody>
      </p:sp>
      <p:sp>
        <p:nvSpPr>
          <p:cNvPr id="96" name="Text 20"/>
          <p:cNvSpPr/>
          <p:nvPr/>
        </p:nvSpPr>
        <p:spPr>
          <a:xfrm>
            <a:off x="936575" y="2237929"/>
            <a:ext cx="168396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agplateform/CLAUDE.md</a:t>
            </a:r>
            <a:endParaRPr lang="en-US" sz="800" dirty="0"/>
          </a:p>
        </p:txBody>
      </p:sp>
      <p:sp>
        <p:nvSpPr>
          <p:cNvPr id="97" name="Text 21"/>
          <p:cNvSpPr/>
          <p:nvPr/>
        </p:nvSpPr>
        <p:spPr>
          <a:xfrm>
            <a:off x="936575" y="2364879"/>
            <a:ext cx="1683969" cy="121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~10KB · 本仓库专属</a:t>
            </a:r>
            <a:endParaRPr lang="en-US" sz="800" dirty="0"/>
          </a:p>
        </p:txBody>
      </p:sp>
      <p:sp>
        <p:nvSpPr>
          <p:cNvPr id="98" name="Text 22"/>
          <p:cNvSpPr/>
          <p:nvPr/>
        </p:nvSpPr>
        <p:spPr>
          <a:xfrm>
            <a:off x="2689027" y="2110978"/>
            <a:ext cx="5566023" cy="1094184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23"/>
          <p:cNvSpPr/>
          <p:nvPr/>
        </p:nvSpPr>
        <p:spPr>
          <a:xfrm>
            <a:off x="2790527" y="2161729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##</a:t>
            </a: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Project Overview</a:t>
            </a:r>
            <a:endParaRPr lang="en-US" sz="680" dirty="0"/>
          </a:p>
        </p:txBody>
      </p:sp>
      <p:sp>
        <p:nvSpPr>
          <p:cNvPr id="100" name="Text 24"/>
          <p:cNvSpPr/>
          <p:nvPr/>
        </p:nvSpPr>
        <p:spPr>
          <a:xfrm>
            <a:off x="2790527" y="2260997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Autobots Platform is an enterprise Agent collaboration</a:t>
            </a:r>
            <a:endParaRPr lang="en-US" sz="680" dirty="0"/>
          </a:p>
        </p:txBody>
      </p:sp>
      <p:sp>
        <p:nvSpPr>
          <p:cNvPr id="101" name="Text 25"/>
          <p:cNvSpPr/>
          <p:nvPr/>
        </p:nvSpPr>
        <p:spPr>
          <a:xfrm>
            <a:off x="2790527" y="2360265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platform built on AgentScope SDK. Multi-language</a:t>
            </a:r>
            <a:endParaRPr lang="en-US" sz="680" dirty="0"/>
          </a:p>
        </p:txBody>
      </p:sp>
      <p:sp>
        <p:nvSpPr>
          <p:cNvPr id="102" name="Text 26"/>
          <p:cNvSpPr/>
          <p:nvPr/>
        </p:nvSpPr>
        <p:spPr>
          <a:xfrm>
            <a:off x="2790527" y="2459534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architecture where each layer uses the most</a:t>
            </a:r>
            <a:endParaRPr lang="en-US" sz="680" dirty="0"/>
          </a:p>
        </p:txBody>
      </p:sp>
      <p:sp>
        <p:nvSpPr>
          <p:cNvPr id="103" name="Text 27"/>
          <p:cNvSpPr/>
          <p:nvPr/>
        </p:nvSpPr>
        <p:spPr>
          <a:xfrm>
            <a:off x="2790527" y="2558802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appropriate technology.</a:t>
            </a:r>
            <a:endParaRPr lang="en-US" sz="680" dirty="0"/>
          </a:p>
        </p:txBody>
      </p:sp>
      <p:sp>
        <p:nvSpPr>
          <p:cNvPr id="104" name="Text 28"/>
          <p:cNvSpPr/>
          <p:nvPr/>
        </p:nvSpPr>
        <p:spPr>
          <a:xfrm>
            <a:off x="2790527" y="2658070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Configuration loading priority:</a:t>
            </a:r>
            <a:endParaRPr lang="en-US" sz="680" dirty="0"/>
          </a:p>
        </p:txBody>
      </p:sp>
      <p:sp>
        <p:nvSpPr>
          <p:cNvPr id="105" name="Text 29"/>
          <p:cNvSpPr/>
          <p:nvPr/>
        </p:nvSpPr>
        <p:spPr>
          <a:xfrm>
            <a:off x="2790527" y="2757339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`Nacos &gt; application-{env}.yaml &gt; application.yaml`</a:t>
            </a:r>
            <a:endParaRPr lang="en-US" sz="680" dirty="0"/>
          </a:p>
        </p:txBody>
      </p:sp>
      <p:sp>
        <p:nvSpPr>
          <p:cNvPr id="106" name="Text 30"/>
          <p:cNvSpPr/>
          <p:nvPr/>
        </p:nvSpPr>
        <p:spPr>
          <a:xfrm>
            <a:off x="2790527" y="2856607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###</a:t>
            </a: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Git Workflow</a:t>
            </a:r>
            <a:endParaRPr lang="en-US" sz="680" dirty="0"/>
          </a:p>
        </p:txBody>
      </p:sp>
      <p:sp>
        <p:nvSpPr>
          <p:cNvPr id="107" name="Text 31"/>
          <p:cNvSpPr/>
          <p:nvPr/>
        </p:nvSpPr>
        <p:spPr>
          <a:xfrm>
            <a:off x="2790527" y="2955875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Branch from </a:t>
            </a:r>
            <a:r>
              <a:rPr lang="en-US" sz="68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`dev`</a:t>
            </a: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, merge back to </a:t>
            </a:r>
            <a:r>
              <a:rPr lang="en-US" sz="68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`dev`</a:t>
            </a:r>
            <a:endParaRPr lang="en-US" sz="680" dirty="0"/>
          </a:p>
        </p:txBody>
      </p:sp>
      <p:sp>
        <p:nvSpPr>
          <p:cNvPr id="108" name="Text 32"/>
          <p:cNvSpPr/>
          <p:nvPr/>
        </p:nvSpPr>
        <p:spPr>
          <a:xfrm>
            <a:off x="2790527" y="3055144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Commit format: </a:t>
            </a:r>
            <a:r>
              <a:rPr lang="en-US" sz="68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`&lt;type&gt;(&lt;scope&gt;): &lt;subject&gt;`</a:t>
            </a:r>
            <a:endParaRPr lang="en-US" sz="680" dirty="0"/>
          </a:p>
        </p:txBody>
      </p:sp>
      <p:sp>
        <p:nvSpPr>
          <p:cNvPr id="109" name="Text 33"/>
          <p:cNvSpPr/>
          <p:nvPr/>
        </p:nvSpPr>
        <p:spPr>
          <a:xfrm>
            <a:off x="762000" y="3319314"/>
            <a:ext cx="7620000" cy="1022449"/>
          </a:xfrm>
          <a:prstGeom prst="rect">
            <a:avLst/>
          </a:prstGeom>
          <a:solidFill>
            <a:srgbClr val="FBF5EB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0" name="Shape 34"/>
          <p:cNvSpPr/>
          <p:nvPr/>
        </p:nvSpPr>
        <p:spPr>
          <a:xfrm>
            <a:off x="785813" y="3319314"/>
            <a:ext cx="0" cy="1022449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11" name="Text 35"/>
          <p:cNvSpPr/>
          <p:nvPr/>
        </p:nvSpPr>
        <p:spPr>
          <a:xfrm>
            <a:off x="936575" y="3382714"/>
            <a:ext cx="168396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L3 · SUBDIR</a:t>
            </a:r>
            <a:endParaRPr lang="en-US" sz="800" dirty="0"/>
          </a:p>
        </p:txBody>
      </p:sp>
      <p:sp>
        <p:nvSpPr>
          <p:cNvPr id="112" name="Text 36"/>
          <p:cNvSpPr/>
          <p:nvPr/>
        </p:nvSpPr>
        <p:spPr>
          <a:xfrm>
            <a:off x="936575" y="3509665"/>
            <a:ext cx="168396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frontend/CLAUDE.md</a:t>
            </a:r>
            <a:endParaRPr lang="en-US" sz="800" dirty="0"/>
          </a:p>
        </p:txBody>
      </p:sp>
      <p:sp>
        <p:nvSpPr>
          <p:cNvPr id="113" name="Text 37"/>
          <p:cNvSpPr/>
          <p:nvPr/>
        </p:nvSpPr>
        <p:spPr>
          <a:xfrm>
            <a:off x="936575" y="3636615"/>
            <a:ext cx="1683969" cy="1218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8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扩展点</a:t>
            </a:r>
            <a:endParaRPr lang="en-US" sz="800" dirty="0"/>
          </a:p>
        </p:txBody>
      </p:sp>
      <p:sp>
        <p:nvSpPr>
          <p:cNvPr id="114" name="Text 38"/>
          <p:cNvSpPr/>
          <p:nvPr/>
        </p:nvSpPr>
        <p:spPr>
          <a:xfrm>
            <a:off x="2689027" y="3382714"/>
            <a:ext cx="5566023" cy="895648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5" name="Text 39"/>
          <p:cNvSpPr/>
          <p:nvPr/>
        </p:nvSpPr>
        <p:spPr>
          <a:xfrm>
            <a:off x="2790527" y="3433465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i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</a:t>
            </a:r>
            <a:r>
              <a:rPr lang="en-US" sz="68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本项目暂未启用 subdir CLAUDE.md</a:t>
            </a:r>
            <a:endParaRPr lang="en-US" sz="680" dirty="0"/>
          </a:p>
        </p:txBody>
      </p:sp>
      <p:sp>
        <p:nvSpPr>
          <p:cNvPr id="116" name="Text 40"/>
          <p:cNvSpPr/>
          <p:nvPr/>
        </p:nvSpPr>
        <p:spPr>
          <a:xfrm>
            <a:off x="2790527" y="3532733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i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</a:t>
            </a:r>
            <a:r>
              <a:rPr lang="en-US" sz="68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下面是未来可能的形态（仅为示例）：</a:t>
            </a:r>
            <a:endParaRPr lang="en-US" sz="680" dirty="0"/>
          </a:p>
        </p:txBody>
      </p:sp>
      <p:sp>
        <p:nvSpPr>
          <p:cNvPr id="117" name="Text 41"/>
          <p:cNvSpPr/>
          <p:nvPr/>
        </p:nvSpPr>
        <p:spPr>
          <a:xfrm>
            <a:off x="2790527" y="3632002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frontend/CLAUDE.md</a:t>
            </a:r>
            <a:endParaRPr lang="en-US" sz="680" dirty="0"/>
          </a:p>
        </p:txBody>
      </p:sp>
      <p:sp>
        <p:nvSpPr>
          <p:cNvPr id="118" name="Text 42"/>
          <p:cNvSpPr/>
          <p:nvPr/>
        </p:nvSpPr>
        <p:spPr>
          <a:xfrm>
            <a:off x="2790527" y="3731270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组件命名: PascalCase · 文件名 kebab-case</a:t>
            </a:r>
            <a:endParaRPr lang="en-US" sz="680" dirty="0"/>
          </a:p>
        </p:txBody>
      </p:sp>
      <p:sp>
        <p:nvSpPr>
          <p:cNvPr id="119" name="Text 43"/>
          <p:cNvSpPr/>
          <p:nvPr/>
        </p:nvSpPr>
        <p:spPr>
          <a:xfrm>
            <a:off x="2790527" y="3830538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所有 API 调用走 src/api/ 封装，禁 axios 直调</a:t>
            </a:r>
            <a:endParaRPr lang="en-US" sz="680" dirty="0"/>
          </a:p>
        </p:txBody>
      </p:sp>
      <p:sp>
        <p:nvSpPr>
          <p:cNvPr id="120" name="Text 44"/>
          <p:cNvSpPr/>
          <p:nvPr/>
        </p:nvSpPr>
        <p:spPr>
          <a:xfrm>
            <a:off x="2790527" y="3929807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rust/CLAUDE.md</a:t>
            </a:r>
            <a:endParaRPr lang="en-US" sz="680" dirty="0"/>
          </a:p>
        </p:txBody>
      </p:sp>
      <p:sp>
        <p:nvSpPr>
          <p:cNvPr id="121" name="Text 45"/>
          <p:cNvSpPr/>
          <p:nvPr/>
        </p:nvSpPr>
        <p:spPr>
          <a:xfrm>
            <a:off x="2790527" y="4029075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</a:t>
            </a:r>
            <a:r>
              <a:rPr lang="en-US" sz="680" b="1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`cargo clippy -- -D warnings`</a:t>
            </a: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必须过</a:t>
            </a:r>
            <a:endParaRPr lang="en-US" sz="680" dirty="0"/>
          </a:p>
        </p:txBody>
      </p:sp>
      <p:sp>
        <p:nvSpPr>
          <p:cNvPr id="122" name="Text 46"/>
          <p:cNvSpPr/>
          <p:nvPr/>
        </p:nvSpPr>
        <p:spPr>
          <a:xfrm>
            <a:off x="2790527" y="4128343"/>
            <a:ext cx="5470282" cy="99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</a:t>
            </a:r>
            <a:r>
              <a:rPr lang="en-US" sz="680" b="1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`unsafe`</a:t>
            </a:r>
            <a:r>
              <a:rPr lang="en-US" sz="680" dirty="0">
                <a:solidFill>
                  <a:srgbClr val="F0E6D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块必须有 SAFETY 注释 + reviewer 二人</a:t>
            </a:r>
            <a:endParaRPr lang="en-US" sz="680" dirty="0"/>
          </a:p>
        </p:txBody>
      </p:sp>
      <p:sp>
        <p:nvSpPr>
          <p:cNvPr id="123" name="Text 47"/>
          <p:cNvSpPr/>
          <p:nvPr/>
        </p:nvSpPr>
        <p:spPr>
          <a:xfrm>
            <a:off x="762000" y="4417963"/>
            <a:ext cx="7620000" cy="631627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4" name="Text 48"/>
          <p:cNvSpPr/>
          <p:nvPr/>
        </p:nvSpPr>
        <p:spPr>
          <a:xfrm>
            <a:off x="939701" y="4494163"/>
            <a:ext cx="2349178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CLAUDE.MD（规则）</a:t>
            </a:r>
            <a:endParaRPr lang="en-US" sz="850" dirty="0"/>
          </a:p>
        </p:txBody>
      </p:sp>
      <p:sp>
        <p:nvSpPr>
          <p:cNvPr id="125" name="Text 49"/>
          <p:cNvSpPr/>
          <p:nvPr/>
        </p:nvSpPr>
        <p:spPr>
          <a:xfrm>
            <a:off x="939701" y="4659660"/>
            <a:ext cx="2349178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手写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上来就该知道 · 不变/慢变 · 版本库管理</a:t>
            </a:r>
            <a:endParaRPr lang="en-US" sz="950" dirty="0"/>
          </a:p>
        </p:txBody>
      </p:sp>
      <p:sp>
        <p:nvSpPr>
          <p:cNvPr id="126" name="Text 50"/>
          <p:cNvSpPr/>
          <p:nvPr/>
        </p:nvSpPr>
        <p:spPr>
          <a:xfrm>
            <a:off x="3420517" y="4494163"/>
            <a:ext cx="2349178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MEMORY（经验）</a:t>
            </a:r>
            <a:endParaRPr lang="en-US" sz="850" dirty="0"/>
          </a:p>
        </p:txBody>
      </p:sp>
      <p:sp>
        <p:nvSpPr>
          <p:cNvPr id="127" name="Text 51"/>
          <p:cNvSpPr/>
          <p:nvPr/>
        </p:nvSpPr>
        <p:spPr>
          <a:xfrm>
            <a:off x="3420517" y="4659660"/>
            <a:ext cx="2349178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沉淀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踩过才知道 · 随事故新增 · memory/ 独立目录</a:t>
            </a:r>
            <a:endParaRPr lang="en-US" sz="950" dirty="0"/>
          </a:p>
        </p:txBody>
      </p:sp>
      <p:sp>
        <p:nvSpPr>
          <p:cNvPr id="128" name="Text 52"/>
          <p:cNvSpPr/>
          <p:nvPr/>
        </p:nvSpPr>
        <p:spPr>
          <a:xfrm>
            <a:off x="5901333" y="4494163"/>
            <a:ext cx="2349178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HOOK（兜底）</a:t>
            </a:r>
            <a:endParaRPr lang="en-US" sz="850" dirty="0"/>
          </a:p>
        </p:txBody>
      </p:sp>
      <p:sp>
        <p:nvSpPr>
          <p:cNvPr id="129" name="Text 53"/>
          <p:cNvSpPr/>
          <p:nvPr/>
        </p:nvSpPr>
        <p:spPr>
          <a:xfrm>
            <a:off x="5901333" y="4659660"/>
            <a:ext cx="2349178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执行期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AI 忘了也挡得住 · settings.json 里的 shell 命令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5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03.1 · MEMORY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58701"/>
            <a:ext cx="7772400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沉淀团队 SOP 的第一性原理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076176"/>
            <a:ext cx="777240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 AI 记住你团队的规矩，比每次重说一遍划算得多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2000" y="1834902"/>
            <a:ext cx="368305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488877"/>
            <a:ext cx="375671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为什么需要 Memory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945928"/>
            <a:ext cx="375671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默认是"金鱼"，每次对话都是新生。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2231678"/>
            <a:ext cx="3756711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你给的纪律（"部署怎么走"、"合并用 merge"）一次就忘。第 N 次解释 = 成本 × N。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98950" y="1834902"/>
            <a:ext cx="3683050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8950" y="1488877"/>
            <a:ext cx="3756711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的本质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950" y="1945928"/>
            <a:ext cx="3756711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一组 markdown 文件 + 索引，每次对话自动加载 MEMORY.md。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98950" y="2441228"/>
            <a:ext cx="3756711" cy="419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按需读具体文件。不是"超长 prompt"，是"按主题分文件的外部记忆"。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2000" y="3114229"/>
            <a:ext cx="7620000" cy="158323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5813" y="3114229"/>
            <a:ext cx="0" cy="1583234"/>
          </a:xfrm>
          <a:prstGeom prst="line">
            <a:avLst/>
          </a:prstGeom>
          <a:noFill/>
          <a:ln w="47625">
            <a:solidFill>
              <a:srgbClr val="1E1B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3526" y="3266629"/>
            <a:ext cx="7205865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四种记忆类型</a:t>
            </a:r>
            <a:endParaRPr lang="en-US" sz="1100" dirty="0"/>
          </a:p>
        </p:txBody>
      </p:sp>
      <p:sp>
        <p:nvSpPr>
          <p:cNvPr id="60" name="Text 14"/>
          <p:cNvSpPr/>
          <p:nvPr/>
        </p:nvSpPr>
        <p:spPr>
          <a:xfrm>
            <a:off x="1063526" y="3568154"/>
            <a:ext cx="1091952" cy="193477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15"/>
          <p:cNvSpPr/>
          <p:nvPr/>
        </p:nvSpPr>
        <p:spPr>
          <a:xfrm>
            <a:off x="1156137" y="3593455"/>
            <a:ext cx="90672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USER</a:t>
            </a:r>
            <a:endParaRPr lang="en-US" sz="1000" dirty="0"/>
          </a:p>
        </p:txBody>
      </p:sp>
      <p:sp>
        <p:nvSpPr>
          <p:cNvPr id="62" name="Text 16"/>
          <p:cNvSpPr/>
          <p:nvPr/>
        </p:nvSpPr>
        <p:spPr>
          <a:xfrm>
            <a:off x="2307878" y="3571577"/>
            <a:ext cx="300011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用户的角色、目标、专长 — 让 AI 用你的语言讲话</a:t>
            </a:r>
            <a:endParaRPr lang="en-US" sz="1050" dirty="0"/>
          </a:p>
        </p:txBody>
      </p:sp>
      <p:sp>
        <p:nvSpPr>
          <p:cNvPr id="63" name="Text 17"/>
          <p:cNvSpPr/>
          <p:nvPr/>
        </p:nvSpPr>
        <p:spPr>
          <a:xfrm>
            <a:off x="1063526" y="3812381"/>
            <a:ext cx="1091952" cy="193477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18"/>
          <p:cNvSpPr/>
          <p:nvPr/>
        </p:nvSpPr>
        <p:spPr>
          <a:xfrm>
            <a:off x="1156137" y="3837682"/>
            <a:ext cx="90672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</a:t>
            </a:r>
            <a:endParaRPr lang="en-US" sz="1000" dirty="0"/>
          </a:p>
        </p:txBody>
      </p:sp>
      <p:sp>
        <p:nvSpPr>
          <p:cNvPr id="65" name="Text 19"/>
          <p:cNvSpPr/>
          <p:nvPr/>
        </p:nvSpPr>
        <p:spPr>
          <a:xfrm>
            <a:off x="2307878" y="3815804"/>
            <a:ext cx="3669271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纠正 &amp; 确认 — 团队纪律的核心载体，带 Why + How to apply</a:t>
            </a:r>
            <a:endParaRPr lang="en-US" sz="1050" dirty="0"/>
          </a:p>
        </p:txBody>
      </p:sp>
      <p:sp>
        <p:nvSpPr>
          <p:cNvPr id="66" name="Text 20"/>
          <p:cNvSpPr/>
          <p:nvPr/>
        </p:nvSpPr>
        <p:spPr>
          <a:xfrm>
            <a:off x="1063526" y="4056608"/>
            <a:ext cx="1091952" cy="193477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21"/>
          <p:cNvSpPr/>
          <p:nvPr/>
        </p:nvSpPr>
        <p:spPr>
          <a:xfrm>
            <a:off x="1156137" y="4081909"/>
            <a:ext cx="90672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</a:t>
            </a:r>
            <a:endParaRPr lang="en-US" sz="1000" dirty="0"/>
          </a:p>
        </p:txBody>
      </p:sp>
      <p:sp>
        <p:nvSpPr>
          <p:cNvPr id="68" name="Text 22"/>
          <p:cNvSpPr/>
          <p:nvPr/>
        </p:nvSpPr>
        <p:spPr>
          <a:xfrm>
            <a:off x="2307878" y="4060031"/>
            <a:ext cx="334000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项目专属事实 — 环境连接串、业务约束、在进行的迁移</a:t>
            </a:r>
            <a:endParaRPr lang="en-US" sz="1050" dirty="0"/>
          </a:p>
        </p:txBody>
      </p:sp>
      <p:sp>
        <p:nvSpPr>
          <p:cNvPr id="69" name="Text 23"/>
          <p:cNvSpPr/>
          <p:nvPr/>
        </p:nvSpPr>
        <p:spPr>
          <a:xfrm>
            <a:off x="1063526" y="4300835"/>
            <a:ext cx="1091952" cy="193477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24"/>
          <p:cNvSpPr/>
          <p:nvPr/>
        </p:nvSpPr>
        <p:spPr>
          <a:xfrm>
            <a:off x="1156137" y="4326136"/>
            <a:ext cx="90672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71" name="Text 25"/>
          <p:cNvSpPr/>
          <p:nvPr/>
        </p:nvSpPr>
        <p:spPr>
          <a:xfrm>
            <a:off x="2307878" y="4304258"/>
            <a:ext cx="3597467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外部系统指针 — Jira 项目、Grafana 面板、Nacos 命名空间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150"/>
            <a:ext cx="777240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03.1 · MEMORY · CROSS-STACK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62000" y="384125"/>
            <a:ext cx="7772400" cy="352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Memory：锁住跨栈共享的"上下文"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62000" y="774650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栈要协同，先让 AI 知道每个栈在哪个状态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101626"/>
            <a:ext cx="7620000" cy="804863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5150" y="1203127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5150" y="1413867"/>
            <a:ext cx="7357973" cy="391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Core 活跃维护 · Go Orchestrator 限定在编排域 · Python runtime 维护态 · TS 跟 API — </a:t>
            </a: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默认不知道</a:t>
            </a:r>
            <a:r>
              <a:rPr lang="en-US" sz="11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每栈的纪律和环境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2000" y="2033439"/>
            <a:ext cx="7620000" cy="272951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62000" y="2301627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9701" y="2084189"/>
            <a:ext cx="1424839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3552" y="2084189"/>
            <a:ext cx="300573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当前状态与纪律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37299" y="2084189"/>
            <a:ext cx="272034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MEMORY 条目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2306389"/>
            <a:ext cx="7620000" cy="49172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62000" y="2793355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701" y="2369790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Java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3552" y="2369790"/>
            <a:ext cx="300573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主干活跃：权限 / 租户 / 存储层持续迭代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37299" y="2369790"/>
            <a:ext cx="2720340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feedback_autobots_is_ours.md 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平台主干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2000" y="2798118"/>
            <a:ext cx="7620000" cy="3140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62000" y="3107382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701" y="2861518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3552" y="2861518"/>
            <a:ext cx="300573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只动 orchestrator，不跨域；workflow 为主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37299" y="2861518"/>
            <a:ext cx="272034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project_error_codes_unfinished_20260409.md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000" y="3112145"/>
            <a:ext cx="7620000" cy="31402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62000" y="3421410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701" y="3175546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Python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3552" y="3175546"/>
            <a:ext cx="300573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runtime 维护态 · 只修 bug 不加功能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7299" y="3175546"/>
            <a:ext cx="272034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project_simplemem_bugs.md 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bug fix only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2000" y="3426172"/>
            <a:ext cx="7620000" cy="49172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62000" y="3913138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9701" y="3489573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TS / React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3552" y="3489573"/>
            <a:ext cx="300573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面板配置 + Admin + ChatPanel 基准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7299" y="3489573"/>
            <a:ext cx="2720340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frontend_agent_config_ui.md · frontend_patterns.md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2000" y="3917900"/>
            <a:ext cx="7620000" cy="49172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62000" y="4404866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701" y="3981301"/>
            <a:ext cx="142483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跨栈共享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3552" y="3981301"/>
            <a:ext cx="300573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环境的 Nacos + MySQL + Redis 连接信息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7299" y="3981301"/>
            <a:ext cx="2720340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project_pre_nacos / pre_database / pre_redis_proxy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2000" y="4536579"/>
            <a:ext cx="7620000" cy="503337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85813" y="4536579"/>
            <a:ext cx="0" cy="503337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2775" y="4625429"/>
            <a:ext cx="7309396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的多栈价值：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不是记笔记，是让 AI 改任意一栈时都知道 ——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其他 3 栈此刻是活跃 / 维护 / 冻结？能不能联动？哪些接口不能动？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777240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03.1.1 · MEMORY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4375"/>
            <a:ext cx="7772400" cy="5048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"部署" 一句话，走完整链路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69950"/>
            <a:ext cx="77724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 feedback memory，省下未来几十次的重复解释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62000" y="1752451"/>
            <a:ext cx="3683050" cy="797123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0600" y="1930152"/>
            <a:ext cx="3290367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USER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600" y="2140893"/>
            <a:ext cx="3290367" cy="2309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&gt; 部署一下 auth-service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2676525"/>
            <a:ext cx="3683050" cy="189785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5813" y="2676525"/>
            <a:ext cx="0" cy="1897856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2775" y="2828925"/>
            <a:ext cx="329370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FEEDBACK_DEPLOY_WORKFLOW.MD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2775" y="3066306"/>
            <a:ext cx="329370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 · 4 步 SOP：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12775" y="3303687"/>
            <a:ext cx="3293706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① commit &amp; push dev  →  ② merge dev→main push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12775" y="3541068"/>
            <a:ext cx="3293706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③ 检查 Nacos/MySQL 同步 pre  →  ④ 列出需重启 pre 容器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12775" y="3965079"/>
            <a:ext cx="3293706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Why:</a:t>
            </a:r>
            <a:r>
              <a:rPr lang="en-US" sz="10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历史上漏过 Nacos 同步，pre 环境接口 500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12775" y="4193530"/>
            <a:ext cx="3293706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边界:</a:t>
            </a:r>
            <a:r>
              <a:rPr lang="en-US" sz="10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K8s 重启 agent 不碰，由人执行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98950" y="1752451"/>
            <a:ext cx="3756711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展开时联动的其他纪律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98950" y="2108002"/>
            <a:ext cx="3683050" cy="19752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 status / diff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确认改动清单</a:t>
            </a:r>
            <a:endParaRPr lang="en-US" sz="1100" dirty="0"/>
          </a:p>
          <a:p>
            <a:pPr marL="0" indent="0" algn="l">
              <a:lnSpc>
                <a:spcPts val="154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merge 不 reset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10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(feedback_merge_not_push.md 约束)</a:t>
            </a:r>
            <a:endParaRPr lang="en-US" sz="1100" dirty="0"/>
          </a:p>
          <a:p>
            <a:pPr marL="0" indent="0" algn="l">
              <a:lnSpc>
                <a:spcPts val="154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先推 tencent/dev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，origin 等用户说"部署" </a:t>
            </a:r>
            <a:r>
              <a:rPr lang="en-US" sz="10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(feedback_push_order.md)</a:t>
            </a:r>
            <a:endParaRPr lang="en-US" sz="1100" dirty="0"/>
          </a:p>
          <a:p>
            <a:pPr marL="0" indent="0" algn="l">
              <a:lnSpc>
                <a:spcPts val="154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MySQL schema 直读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information_schema </a:t>
            </a:r>
            <a:r>
              <a:rPr lang="en-US" sz="10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(feedback_no_flyway.md)</a:t>
            </a:r>
            <a:endParaRPr lang="en-US" sz="1100" dirty="0"/>
          </a:p>
          <a:p>
            <a:pPr marL="0" indent="0" algn="l">
              <a:lnSpc>
                <a:spcPts val="1540"/>
              </a:lnSpc>
              <a:spcAft>
                <a:spcPts val="800"/>
              </a:spcAft>
              <a:buSzPct val="100000"/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r>
              <a:rPr lang="en-US" sz="11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列容器清单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，K8s 重启人工执行 </a:t>
            </a:r>
            <a:r>
              <a:rPr lang="en-US" sz="10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(feedback_deploy_scope.md)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03.1.2 · FROM INCIDENT TO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19100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每一条 memory，都是一次事故的账单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47725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feedback memory 不是纸面规则，是"踩过才写进去"的血泪账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174700"/>
            <a:ext cx="7620000" cy="82138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1174700"/>
            <a:ext cx="0" cy="82138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326" y="1276201"/>
            <a:ext cx="440385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9076" y="1276201"/>
            <a:ext cx="153854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feedback_no_flyway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28950" y="1304776"/>
            <a:ext cx="11852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 ·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19076" y="1453902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WHERE IT HURT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19076" y="1580852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Flyway 迁移在 pre/poc/prod 不同步 · AI 看 migration 文件推断错了 schema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23084" y="1453902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RULE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23084" y="1580852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全环境禁用 Flyway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直接对比 information_schema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27093" y="1453902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IT SAVES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27093" y="1580852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再也不用对 AI 解释"看 migration 文件是陷阱"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2000" y="2046833"/>
            <a:ext cx="7620000" cy="82138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85813" y="2046833"/>
            <a:ext cx="0" cy="82138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326" y="2148334"/>
            <a:ext cx="440385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9076" y="2148334"/>
            <a:ext cx="196587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project_pre_redis_proxy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47901" y="2176909"/>
            <a:ext cx="110620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 · 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419076" y="2326035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WHERE IT HURT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19076" y="2452985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Pre 环境 Redis 是代理型 · AI 执行 KEYS/SCAN 触发告警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23084" y="2326035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RULE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23084" y="2452985"/>
            <a:ext cx="2220599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禁 KEYS/SCAN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扫描类命令全部绕开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27093" y="2326035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IT SAVES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27093" y="2452985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一次告警一次事故，AI 再碰 pre 环境直接避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2000" y="2918966"/>
            <a:ext cx="7620000" cy="82138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85813" y="2918966"/>
            <a:ext cx="0" cy="82138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7326" y="3020467"/>
            <a:ext cx="440385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419076" y="3020467"/>
            <a:ext cx="222226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feedback_prod_ip_allowlist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99272" y="3049042"/>
            <a:ext cx="11852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 · 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19076" y="3198168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WHERE IT HURT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19076" y="3325118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生产 allowlist 含 16.0.0.0/8 · 上次差点被当成笔误删掉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23084" y="3198168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RULE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23084" y="3325118"/>
            <a:ext cx="2220599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这是 K8s Pod CIDR · 别删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27093" y="3198168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IT SAVES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27093" y="3325118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再看到这段 IP 知道"是对的"，不会推荐删除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2000" y="3791099"/>
            <a:ext cx="7620000" cy="82138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85813" y="3791099"/>
            <a:ext cx="0" cy="82138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326" y="3892600"/>
            <a:ext cx="440385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419076" y="3892600"/>
            <a:ext cx="2051337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feedback_deploy_workflow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31691" y="3921175"/>
            <a:ext cx="11852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 ·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419076" y="4070300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WHERE IT HURT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419076" y="4197251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"部署"漏做 Nacos 同步 · pre 环境接口 500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723084" y="4070300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RULE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23084" y="4197251"/>
            <a:ext cx="2220599" cy="3137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"部署"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= commit → merge → nacos → mysql → 列容器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27093" y="4070300"/>
            <a:ext cx="222059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WHAT IT SAVES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27093" y="4197251"/>
            <a:ext cx="2220599" cy="156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一句"部署"能跑完整链路，不再漏步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2000" y="4739432"/>
            <a:ext cx="7620000" cy="380702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65150" y="4840932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本项目 34 条 memory</a:t>
            </a:r>
            <a:r>
              <a:rPr lang="en-US" sz="10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= 34 次事故与决策的账单 = 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34 条再也不用解释第二遍的纪律</a:t>
            </a:r>
            <a:r>
              <a:rPr lang="en-US" sz="10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。质量的复利，就藏在这里。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762000" y="15240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03.1.3 · HOW TO ADD ONE · VERBATIM</a:t>
            </a:r>
            <a:endParaRPr lang="en-US" sz="1100" dirty="0"/>
          </a:p>
        </p:txBody>
      </p:sp>
      <p:sp>
        <p:nvSpPr>
          <p:cNvPr id="52" name="Text 1"/>
          <p:cNvSpPr/>
          <p:nvPr/>
        </p:nvSpPr>
        <p:spPr>
          <a:xfrm>
            <a:off x="762000" y="342900"/>
            <a:ext cx="77724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加一条 memory：feedback_no_flyway.md 真实原文</a:t>
            </a:r>
            <a:endParaRPr lang="en-US" sz="2100" dirty="0"/>
          </a:p>
        </p:txBody>
      </p:sp>
      <p:sp>
        <p:nvSpPr>
          <p:cNvPr id="53" name="Text 2"/>
          <p:cNvSpPr/>
          <p:nvPr/>
        </p:nvSpPr>
        <p:spPr>
          <a:xfrm>
            <a:off x="762000" y="762000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 "让 AI 记笔记"，是 "把这次踩坑结晶成下次的自动纪律"</a:t>
            </a:r>
            <a:endParaRPr lang="en-US" sz="1100" dirty="0"/>
          </a:p>
        </p:txBody>
      </p:sp>
      <p:sp>
        <p:nvSpPr>
          <p:cNvPr id="54" name="Text 3"/>
          <p:cNvSpPr/>
          <p:nvPr/>
        </p:nvSpPr>
        <p:spPr>
          <a:xfrm>
            <a:off x="762000" y="1063526"/>
            <a:ext cx="4674096" cy="2969716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"/>
          <p:cNvSpPr/>
          <p:nvPr/>
        </p:nvSpPr>
        <p:spPr>
          <a:xfrm>
            <a:off x="914400" y="1165027"/>
            <a:ext cx="4456682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REAL · feedback_no_flyway.md VERBATIM</a:t>
            </a:r>
            <a:endParaRPr lang="en-US" sz="850" dirty="0"/>
          </a:p>
        </p:txBody>
      </p:sp>
      <p:sp>
        <p:nvSpPr>
          <p:cNvPr id="56" name="Text 5"/>
          <p:cNvSpPr/>
          <p:nvPr/>
        </p:nvSpPr>
        <p:spPr>
          <a:xfrm>
            <a:off x="914400" y="133007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①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文件名：feedback_&lt;主题&gt;.md</a:t>
            </a:r>
            <a:endParaRPr lang="en-US" sz="700" dirty="0"/>
          </a:p>
        </p:txBody>
      </p:sp>
      <p:sp>
        <p:nvSpPr>
          <p:cNvPr id="57" name="Text 6"/>
          <p:cNvSpPr/>
          <p:nvPr/>
        </p:nvSpPr>
        <p:spPr>
          <a:xfrm>
            <a:off x="914400" y="143485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②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frontmatter (name / description / type)</a:t>
            </a:r>
            <a:endParaRPr lang="en-US" sz="700" dirty="0"/>
          </a:p>
        </p:txBody>
      </p:sp>
      <p:sp>
        <p:nvSpPr>
          <p:cNvPr id="58" name="Text 7"/>
          <p:cNvSpPr/>
          <p:nvPr/>
        </p:nvSpPr>
        <p:spPr>
          <a:xfrm>
            <a:off x="914400" y="153962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---</a:t>
            </a:r>
            <a:endParaRPr lang="en-US" sz="700" dirty="0"/>
          </a:p>
        </p:txBody>
      </p:sp>
      <p:sp>
        <p:nvSpPr>
          <p:cNvPr id="59" name="Text 8"/>
          <p:cNvSpPr/>
          <p:nvPr/>
        </p:nvSpPr>
        <p:spPr>
          <a:xfrm>
            <a:off x="914400" y="164440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name:</a:t>
            </a:r>
            <a:r>
              <a:rPr lang="en-US" sz="700" dirty="0">
                <a:solidFill>
                  <a:srgbClr val="B8A99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用户已禁用Flyway 不要再提</a:t>
            </a:r>
            <a:endParaRPr lang="en-US" sz="700" dirty="0"/>
          </a:p>
        </p:txBody>
      </p:sp>
      <p:sp>
        <p:nvSpPr>
          <p:cNvPr id="60" name="Text 9"/>
          <p:cNvSpPr/>
          <p:nvPr/>
        </p:nvSpPr>
        <p:spPr>
          <a:xfrm>
            <a:off x="914400" y="174917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description:</a:t>
            </a:r>
            <a:r>
              <a:rPr lang="en-US" sz="700" dirty="0">
                <a:solidFill>
                  <a:srgbClr val="B8A99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pre/poc/prod 都禁用了 Flyway，</a:t>
            </a:r>
            <a:endParaRPr lang="en-US" sz="700" dirty="0"/>
          </a:p>
        </p:txBody>
      </p:sp>
      <p:sp>
        <p:nvSpPr>
          <p:cNvPr id="61" name="Text 10"/>
          <p:cNvSpPr/>
          <p:nvPr/>
        </p:nvSpPr>
        <p:spPr>
          <a:xfrm>
            <a:off x="914400" y="185395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B8A99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schema 同步必须直接对比表结构，不要看 migration 文件</a:t>
            </a:r>
            <a:endParaRPr lang="en-US" sz="700" dirty="0"/>
          </a:p>
        </p:txBody>
      </p:sp>
      <p:sp>
        <p:nvSpPr>
          <p:cNvPr id="62" name="Text 11"/>
          <p:cNvSpPr/>
          <p:nvPr/>
        </p:nvSpPr>
        <p:spPr>
          <a:xfrm>
            <a:off x="914400" y="195872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type:</a:t>
            </a:r>
            <a:r>
              <a:rPr lang="en-US" sz="700" dirty="0">
                <a:solidFill>
                  <a:srgbClr val="B8A99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feedback</a:t>
            </a:r>
            <a:endParaRPr lang="en-US" sz="700" dirty="0"/>
          </a:p>
        </p:txBody>
      </p:sp>
      <p:sp>
        <p:nvSpPr>
          <p:cNvPr id="63" name="Text 12"/>
          <p:cNvSpPr/>
          <p:nvPr/>
        </p:nvSpPr>
        <p:spPr>
          <a:xfrm>
            <a:off x="914400" y="206350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originSessionId:</a:t>
            </a:r>
            <a:r>
              <a:rPr lang="en-US" sz="700" dirty="0">
                <a:solidFill>
                  <a:srgbClr val="B8A99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d1299ae8-974a-4f88...</a:t>
            </a:r>
            <a:endParaRPr lang="en-US" sz="700" dirty="0"/>
          </a:p>
        </p:txBody>
      </p:sp>
      <p:sp>
        <p:nvSpPr>
          <p:cNvPr id="64" name="Text 13"/>
          <p:cNvSpPr/>
          <p:nvPr/>
        </p:nvSpPr>
        <p:spPr>
          <a:xfrm>
            <a:off x="914400" y="216827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---</a:t>
            </a:r>
            <a:endParaRPr lang="en-US" sz="700" dirty="0"/>
          </a:p>
        </p:txBody>
      </p:sp>
      <p:sp>
        <p:nvSpPr>
          <p:cNvPr id="65" name="Text 14"/>
          <p:cNvSpPr/>
          <p:nvPr/>
        </p:nvSpPr>
        <p:spPr>
          <a:xfrm>
            <a:off x="914400" y="227305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用户已经在 pre / poc / prod 全部禁用 Flyway</a:t>
            </a:r>
            <a:endParaRPr lang="en-US" sz="700" dirty="0"/>
          </a:p>
        </p:txBody>
      </p:sp>
      <p:sp>
        <p:nvSpPr>
          <p:cNvPr id="66" name="Text 15"/>
          <p:cNvSpPr/>
          <p:nvPr/>
        </p:nvSpPr>
        <p:spPr>
          <a:xfrm>
            <a:off x="914400" y="237782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(spring.flyway.enabled=false)，不要再提 Flyway</a:t>
            </a:r>
            <a:endParaRPr lang="en-US" sz="700" dirty="0"/>
          </a:p>
        </p:txBody>
      </p:sp>
      <p:sp>
        <p:nvSpPr>
          <p:cNvPr id="67" name="Text 16"/>
          <p:cNvSpPr/>
          <p:nvPr/>
        </p:nvSpPr>
        <p:spPr>
          <a:xfrm>
            <a:off x="914400" y="248260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自动迁移、不要看 db/migration/*.sql 文件。</a:t>
            </a:r>
            <a:endParaRPr lang="en-US" sz="700" dirty="0"/>
          </a:p>
        </p:txBody>
      </p:sp>
      <p:sp>
        <p:nvSpPr>
          <p:cNvPr id="68" name="Text 17"/>
          <p:cNvSpPr/>
          <p:nvPr/>
        </p:nvSpPr>
        <p:spPr>
          <a:xfrm>
            <a:off x="914400" y="258737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③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Why — 决策根因（让未来判断是否仍适用）</a:t>
            </a:r>
            <a:endParaRPr lang="en-US" sz="700" dirty="0"/>
          </a:p>
        </p:txBody>
      </p:sp>
      <p:sp>
        <p:nvSpPr>
          <p:cNvPr id="69" name="Text 18"/>
          <p:cNvSpPr/>
          <p:nvPr/>
        </p:nvSpPr>
        <p:spPr>
          <a:xfrm>
            <a:off x="914400" y="269215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**Why:**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用户有自己的发版/数据库变更流程，</a:t>
            </a:r>
            <a:endParaRPr lang="en-US" sz="700" dirty="0"/>
          </a:p>
        </p:txBody>
      </p:sp>
      <p:sp>
        <p:nvSpPr>
          <p:cNvPr id="70" name="Text 19"/>
          <p:cNvSpPr/>
          <p:nvPr/>
        </p:nvSpPr>
        <p:spPr>
          <a:xfrm>
            <a:off x="914400" y="279692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多次纠正过这一点（2026-04-13 同一次会话已经被</a:t>
            </a:r>
            <a:endParaRPr lang="en-US" sz="700" dirty="0"/>
          </a:p>
        </p:txBody>
      </p:sp>
      <p:sp>
        <p:nvSpPr>
          <p:cNvPr id="71" name="Text 20"/>
          <p:cNvSpPr/>
          <p:nvPr/>
        </p:nvSpPr>
        <p:spPr>
          <a:xfrm>
            <a:off x="914400" y="290170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纠正两次）。继续提 Flyway = 没听用户的话。</a:t>
            </a:r>
            <a:endParaRPr lang="en-US" sz="700" dirty="0"/>
          </a:p>
        </p:txBody>
      </p:sp>
      <p:sp>
        <p:nvSpPr>
          <p:cNvPr id="72" name="Text 21"/>
          <p:cNvSpPr/>
          <p:nvPr/>
        </p:nvSpPr>
        <p:spPr>
          <a:xfrm>
            <a:off x="914400" y="300647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④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How to apply — 触发条件（让未来知道何时拿出来用）</a:t>
            </a:r>
            <a:endParaRPr lang="en-US" sz="700" dirty="0"/>
          </a:p>
        </p:txBody>
      </p:sp>
      <p:sp>
        <p:nvSpPr>
          <p:cNvPr id="73" name="Text 22"/>
          <p:cNvSpPr/>
          <p:nvPr/>
        </p:nvSpPr>
        <p:spPr>
          <a:xfrm>
            <a:off x="914400" y="311125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**How to apply:**</a:t>
            </a:r>
            <a:endParaRPr lang="en-US" sz="700" dirty="0"/>
          </a:p>
        </p:txBody>
      </p:sp>
      <p:sp>
        <p:nvSpPr>
          <p:cNvPr id="74" name="Text 23"/>
          <p:cNvSpPr/>
          <p:nvPr/>
        </p:nvSpPr>
        <p:spPr>
          <a:xfrm>
            <a:off x="914400" y="321602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同步 schema 时直接用 `information_schema.columns`</a:t>
            </a:r>
            <a:endParaRPr lang="en-US" sz="700" dirty="0"/>
          </a:p>
        </p:txBody>
      </p:sp>
      <p:sp>
        <p:nvSpPr>
          <p:cNvPr id="75" name="Text 24"/>
          <p:cNvSpPr/>
          <p:nvPr/>
        </p:nvSpPr>
        <p:spPr>
          <a:xfrm>
            <a:off x="914400" y="332080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 `statistics` 对比两个库的表/列/索引差异</a:t>
            </a:r>
            <a:endParaRPr lang="en-US" sz="700" dirty="0"/>
          </a:p>
        </p:txBody>
      </p:sp>
      <p:sp>
        <p:nvSpPr>
          <p:cNvPr id="76" name="Text 25"/>
          <p:cNvSpPr/>
          <p:nvPr/>
        </p:nvSpPr>
        <p:spPr>
          <a:xfrm>
            <a:off x="914400" y="342557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发现差异后用 `SHOW CREATE TABLE` 拉 DDL 手动 apply</a:t>
            </a:r>
            <a:endParaRPr lang="en-US" sz="700" dirty="0"/>
          </a:p>
        </p:txBody>
      </p:sp>
      <p:sp>
        <p:nvSpPr>
          <p:cNvPr id="77" name="Text 26"/>
          <p:cNvSpPr/>
          <p:nvPr/>
        </p:nvSpPr>
        <p:spPr>
          <a:xfrm>
            <a:off x="914400" y="3530352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不要说 "Flyway 会自动跑"、"你需要 V96 migration"</a:t>
            </a:r>
            <a:endParaRPr lang="en-US" sz="700" dirty="0"/>
          </a:p>
        </p:txBody>
      </p:sp>
      <p:sp>
        <p:nvSpPr>
          <p:cNvPr id="78" name="Text 27"/>
          <p:cNvSpPr/>
          <p:nvPr/>
        </p:nvSpPr>
        <p:spPr>
          <a:xfrm>
            <a:off x="914400" y="3635127"/>
            <a:ext cx="445668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不要在响应里出现 "Flyway" 这个词，除非用户先提</a:t>
            </a:r>
            <a:endParaRPr lang="en-US" sz="700" dirty="0"/>
          </a:p>
        </p:txBody>
      </p:sp>
      <p:sp>
        <p:nvSpPr>
          <p:cNvPr id="79" name="Text 28"/>
          <p:cNvSpPr/>
          <p:nvPr/>
        </p:nvSpPr>
        <p:spPr>
          <a:xfrm>
            <a:off x="5563046" y="1063526"/>
            <a:ext cx="2818954" cy="38085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Shape 29"/>
          <p:cNvSpPr/>
          <p:nvPr/>
        </p:nvSpPr>
        <p:spPr>
          <a:xfrm>
            <a:off x="5582096" y="1063526"/>
            <a:ext cx="0" cy="380851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81" name="Text 30"/>
          <p:cNvSpPr/>
          <p:nvPr/>
        </p:nvSpPr>
        <p:spPr>
          <a:xfrm>
            <a:off x="5728097" y="1114276"/>
            <a:ext cx="257749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STEP 01 · FILE</a:t>
            </a:r>
            <a:endParaRPr lang="en-US" sz="750" dirty="0"/>
          </a:p>
        </p:txBody>
      </p:sp>
      <p:sp>
        <p:nvSpPr>
          <p:cNvPr id="82" name="Text 31"/>
          <p:cNvSpPr/>
          <p:nvPr/>
        </p:nvSpPr>
        <p:spPr>
          <a:xfrm>
            <a:off x="5728097" y="1231702"/>
            <a:ext cx="257749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9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feedback_no_flyway.md</a:t>
            </a:r>
            <a:endParaRPr lang="en-US" sz="950" dirty="0"/>
          </a:p>
        </p:txBody>
      </p:sp>
      <p:sp>
        <p:nvSpPr>
          <p:cNvPr id="83" name="Text 32"/>
          <p:cNvSpPr/>
          <p:nvPr/>
        </p:nvSpPr>
        <p:spPr>
          <a:xfrm>
            <a:off x="5563046" y="1507778"/>
            <a:ext cx="2818954" cy="36968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Shape 33"/>
          <p:cNvSpPr/>
          <p:nvPr/>
        </p:nvSpPr>
        <p:spPr>
          <a:xfrm>
            <a:off x="5582096" y="1507778"/>
            <a:ext cx="0" cy="369689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85" name="Text 34"/>
          <p:cNvSpPr/>
          <p:nvPr/>
        </p:nvSpPr>
        <p:spPr>
          <a:xfrm>
            <a:off x="5728097" y="1558528"/>
            <a:ext cx="257749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STEP 02 · CONTENT</a:t>
            </a:r>
            <a:endParaRPr lang="en-US" sz="750" dirty="0"/>
          </a:p>
        </p:txBody>
      </p:sp>
      <p:sp>
        <p:nvSpPr>
          <p:cNvPr id="86" name="Text 35"/>
          <p:cNvSpPr/>
          <p:nvPr/>
        </p:nvSpPr>
        <p:spPr>
          <a:xfrm>
            <a:off x="5728097" y="1675954"/>
            <a:ext cx="2577492" cy="1507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95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frontmatter + Why + How to apply</a:t>
            </a:r>
            <a:endParaRPr lang="en-US" sz="950" dirty="0"/>
          </a:p>
        </p:txBody>
      </p:sp>
      <p:sp>
        <p:nvSpPr>
          <p:cNvPr id="87" name="Text 36"/>
          <p:cNvSpPr/>
          <p:nvPr/>
        </p:nvSpPr>
        <p:spPr>
          <a:xfrm>
            <a:off x="5563046" y="1940868"/>
            <a:ext cx="2818954" cy="38085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Shape 37"/>
          <p:cNvSpPr/>
          <p:nvPr/>
        </p:nvSpPr>
        <p:spPr>
          <a:xfrm>
            <a:off x="5582096" y="1940868"/>
            <a:ext cx="0" cy="380851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89" name="Text 38"/>
          <p:cNvSpPr/>
          <p:nvPr/>
        </p:nvSpPr>
        <p:spPr>
          <a:xfrm>
            <a:off x="5728097" y="1991618"/>
            <a:ext cx="2577492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STEP 03 · INDEX</a:t>
            </a:r>
            <a:endParaRPr lang="en-US" sz="750" dirty="0"/>
          </a:p>
        </p:txBody>
      </p:sp>
      <p:sp>
        <p:nvSpPr>
          <p:cNvPr id="90" name="Text 39"/>
          <p:cNvSpPr/>
          <p:nvPr/>
        </p:nvSpPr>
        <p:spPr>
          <a:xfrm>
            <a:off x="5728097" y="2109043"/>
            <a:ext cx="2577492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950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追加 </a:t>
            </a:r>
            <a:r>
              <a:rPr lang="en-US" sz="9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MEMORY.md</a:t>
            </a:r>
            <a:r>
              <a:rPr lang="en-US" sz="950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一行</a:t>
            </a:r>
            <a:endParaRPr lang="en-US" sz="950" dirty="0"/>
          </a:p>
        </p:txBody>
      </p:sp>
      <p:sp>
        <p:nvSpPr>
          <p:cNvPr id="91" name="Text 40"/>
          <p:cNvSpPr/>
          <p:nvPr/>
        </p:nvSpPr>
        <p:spPr>
          <a:xfrm>
            <a:off x="5563046" y="2385120"/>
            <a:ext cx="2818954" cy="656927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41"/>
          <p:cNvSpPr/>
          <p:nvPr/>
        </p:nvSpPr>
        <p:spPr>
          <a:xfrm>
            <a:off x="5582096" y="2385120"/>
            <a:ext cx="0" cy="656927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93" name="Text 42"/>
          <p:cNvSpPr/>
          <p:nvPr/>
        </p:nvSpPr>
        <p:spPr>
          <a:xfrm>
            <a:off x="5728097" y="2448520"/>
            <a:ext cx="257749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REAL · MEMORY.md 第 21 行 VERBATIM</a:t>
            </a:r>
            <a:endParaRPr lang="en-US" sz="750" dirty="0"/>
          </a:p>
        </p:txBody>
      </p:sp>
      <p:sp>
        <p:nvSpPr>
          <p:cNvPr id="94" name="Text 43"/>
          <p:cNvSpPr/>
          <p:nvPr/>
        </p:nvSpPr>
        <p:spPr>
          <a:xfrm>
            <a:off x="5728097" y="2607171"/>
            <a:ext cx="2577492" cy="3714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75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‑ [feedback_no_flyway.md] — Flyway 已全环境禁用，schema 同步直接对比 information_schema，不看 migration 文件</a:t>
            </a:r>
            <a:endParaRPr lang="en-US" sz="750" dirty="0"/>
          </a:p>
        </p:txBody>
      </p:sp>
      <p:sp>
        <p:nvSpPr>
          <p:cNvPr id="95" name="Text 44"/>
          <p:cNvSpPr/>
          <p:nvPr/>
        </p:nvSpPr>
        <p:spPr>
          <a:xfrm>
            <a:off x="5563046" y="3105448"/>
            <a:ext cx="2818954" cy="927795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Text 45"/>
          <p:cNvSpPr/>
          <p:nvPr/>
        </p:nvSpPr>
        <p:spPr>
          <a:xfrm>
            <a:off x="5689997" y="3181648"/>
            <a:ext cx="261635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TIMELINE · 一条 memory 的一生</a:t>
            </a:r>
            <a:endParaRPr lang="en-US" sz="750" dirty="0"/>
          </a:p>
        </p:txBody>
      </p:sp>
      <p:sp>
        <p:nvSpPr>
          <p:cNvPr id="97" name="Text 46"/>
          <p:cNvSpPr/>
          <p:nvPr/>
        </p:nvSpPr>
        <p:spPr>
          <a:xfrm>
            <a:off x="5689997" y="3353098"/>
            <a:ext cx="51810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04-13</a:t>
            </a:r>
            <a:endParaRPr lang="en-US" sz="750" dirty="0"/>
          </a:p>
        </p:txBody>
      </p:sp>
      <p:sp>
        <p:nvSpPr>
          <p:cNvPr id="98" name="Text 47"/>
          <p:cNvSpPr/>
          <p:nvPr/>
        </p:nvSpPr>
        <p:spPr>
          <a:xfrm>
            <a:off x="6274147" y="3353098"/>
            <a:ext cx="2020520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事故</a:t>
            </a:r>
            <a:r>
              <a:rPr lang="en-US" sz="8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AI 读 db/migration/*.sql 推断 schema</a:t>
            </a:r>
            <a:endParaRPr lang="en-US" sz="800" dirty="0"/>
          </a:p>
        </p:txBody>
      </p:sp>
      <p:sp>
        <p:nvSpPr>
          <p:cNvPr id="99" name="Text 48"/>
          <p:cNvSpPr/>
          <p:nvPr/>
        </p:nvSpPr>
        <p:spPr>
          <a:xfrm>
            <a:off x="5689997" y="3510409"/>
            <a:ext cx="51810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04-13</a:t>
            </a:r>
            <a:endParaRPr lang="en-US" sz="750" dirty="0"/>
          </a:p>
        </p:txBody>
      </p:sp>
      <p:sp>
        <p:nvSpPr>
          <p:cNvPr id="100" name="Text 49"/>
          <p:cNvSpPr/>
          <p:nvPr/>
        </p:nvSpPr>
        <p:spPr>
          <a:xfrm>
            <a:off x="6274147" y="3510409"/>
            <a:ext cx="2020520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复发</a:t>
            </a:r>
            <a:r>
              <a:rPr lang="en-US" sz="8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同会话 AI 换说法又提 Flyway</a:t>
            </a:r>
            <a:endParaRPr lang="en-US" sz="800" dirty="0"/>
          </a:p>
        </p:txBody>
      </p:sp>
      <p:sp>
        <p:nvSpPr>
          <p:cNvPr id="101" name="Text 50"/>
          <p:cNvSpPr/>
          <p:nvPr/>
        </p:nvSpPr>
        <p:spPr>
          <a:xfrm>
            <a:off x="5689997" y="3667720"/>
            <a:ext cx="51810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04-13</a:t>
            </a:r>
            <a:endParaRPr lang="en-US" sz="750" dirty="0"/>
          </a:p>
        </p:txBody>
      </p:sp>
      <p:sp>
        <p:nvSpPr>
          <p:cNvPr id="102" name="Text 51"/>
          <p:cNvSpPr/>
          <p:nvPr/>
        </p:nvSpPr>
        <p:spPr>
          <a:xfrm>
            <a:off x="6274147" y="3667720"/>
            <a:ext cx="2020520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落盘</a:t>
            </a:r>
            <a:r>
              <a:rPr lang="en-US" sz="8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写文件 · 追加索引</a:t>
            </a:r>
            <a:endParaRPr lang="en-US" sz="800" dirty="0"/>
          </a:p>
        </p:txBody>
      </p:sp>
      <p:sp>
        <p:nvSpPr>
          <p:cNvPr id="103" name="Text 52"/>
          <p:cNvSpPr/>
          <p:nvPr/>
        </p:nvSpPr>
        <p:spPr>
          <a:xfrm>
            <a:off x="5689997" y="3825032"/>
            <a:ext cx="518109" cy="104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04-13+</a:t>
            </a:r>
            <a:endParaRPr lang="en-US" sz="750" dirty="0"/>
          </a:p>
        </p:txBody>
      </p:sp>
      <p:sp>
        <p:nvSpPr>
          <p:cNvPr id="104" name="Text 53"/>
          <p:cNvSpPr/>
          <p:nvPr/>
        </p:nvSpPr>
        <p:spPr>
          <a:xfrm>
            <a:off x="6274147" y="3825032"/>
            <a:ext cx="2020520" cy="1320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回报</a:t>
            </a:r>
            <a:r>
              <a:rPr lang="en-US" sz="8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新会话零解释成本</a:t>
            </a:r>
            <a:endParaRPr lang="en-US" sz="800" dirty="0"/>
          </a:p>
        </p:txBody>
      </p:sp>
      <p:sp>
        <p:nvSpPr>
          <p:cNvPr id="105" name="Text 54"/>
          <p:cNvSpPr/>
          <p:nvPr/>
        </p:nvSpPr>
        <p:spPr>
          <a:xfrm>
            <a:off x="762000" y="4109442"/>
            <a:ext cx="7620000" cy="452438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Shape 55"/>
          <p:cNvSpPr/>
          <p:nvPr/>
        </p:nvSpPr>
        <p:spPr>
          <a:xfrm>
            <a:off x="785813" y="4109442"/>
            <a:ext cx="0" cy="452438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07" name="Text 56"/>
          <p:cNvSpPr/>
          <p:nvPr/>
        </p:nvSpPr>
        <p:spPr>
          <a:xfrm>
            <a:off x="1012775" y="4172843"/>
            <a:ext cx="7309396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触发写 memory 的信号：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同会话被纠正 ≥ 2 次 · 或每次都要解释同一件事 · 或事故后的隐性约束。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规则：纠正一次是对话，纠正两次是 memory。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240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03.1.4 · MEMORY GALLERY · VERBATIM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342900"/>
            <a:ext cx="777240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其他 memory 样本：4 种类型 × 4 种形态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762000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zh-CN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</a:t>
            </a:r>
            <a:r>
              <a:rPr lang="zh-CN" alt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不是只有"踩坑纠正"一种 — 还有环境约束、品牌决策、技术栈偏好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063526"/>
            <a:ext cx="3759101" cy="127560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063526"/>
            <a:ext cx="3759101" cy="390376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81050" y="1063526"/>
            <a:ext cx="0" cy="390376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7050" y="1114276"/>
            <a:ext cx="35364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 · FEEDBACK · 纠正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27050" y="1260277"/>
            <a:ext cx="3536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feedback_no_frontend_defaults.md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2000" y="1453902"/>
            <a:ext cx="3759101" cy="88523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8950" y="151730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前端页面不该有任何默认值回填逻辑，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88950" y="162565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加载到什么就显示什么。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888950" y="1733996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Why:</a:t>
            </a: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默认值 fallback 会覆盖用户的主动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88950" y="184234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清空操作（如解绑知识库）→ 功能 bug。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88950" y="195069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How:</a:t>
            </a: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空数组 / 空字符串是用户的合法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88950" y="2059037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输入，表单初始化/序列化不回填。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09951" y="1063526"/>
            <a:ext cx="3759101" cy="127560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09951" y="1063526"/>
            <a:ext cx="3759101" cy="390376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29001" y="1063526"/>
            <a:ext cx="0" cy="390376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5002" y="1114276"/>
            <a:ext cx="35364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 · PROJECT · 环境约束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75002" y="1260277"/>
            <a:ext cx="3536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project_pre_redis_proxy.md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09951" y="1453902"/>
            <a:ext cx="3759101" cy="88523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36902" y="151730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Pre 环境 Redis 是代理型，禁 KEYS / SCAN。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36902" y="162565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任何调用 → JedisDataException → 启动失败。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36902" y="1733996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Why:</a:t>
            </a: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04-13 SliderCaptcha bootstrap 用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36902" y="184234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redisTemplate.keys("slider:*") pre 直接挂。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36902" y="195069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dev 是单机 Redis 能跑 → 本地测不发现。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36902" y="2059037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How:</a:t>
            </a: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keys/scan 调用都是 pre 地雷 ·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36902" y="2167384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review 遇到 redisTemplate.keys 直接 reject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62000" y="2427982"/>
            <a:ext cx="3759101" cy="127560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2000" y="2427982"/>
            <a:ext cx="3759101" cy="390376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81050" y="2427982"/>
            <a:ext cx="0" cy="390376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7050" y="2478732"/>
            <a:ext cx="35364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 · PROJECT · 策略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27050" y="2624733"/>
            <a:ext cx="3536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project_branding.md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2000" y="2818358"/>
            <a:ext cx="3759101" cy="88523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88950" y="2881759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平台正式名称定为"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autobots工作台"。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88950" y="2990106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Why:</a:t>
            </a: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用户决定的品牌命名，取代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88950" y="309845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Agentic Platform / AP平台 等称呼。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88950" y="320680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How:</a:t>
            </a: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讨论 / 文档 / UI 文案用"鲁班工作台"；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88950" y="3315146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代码模块名 agentic-platform 保持不变，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88950" y="342349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除非用户明确要求修改。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609951" y="2427982"/>
            <a:ext cx="3759101" cy="127560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09951" y="2427982"/>
            <a:ext cx="3759101" cy="390376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629001" y="2427982"/>
            <a:ext cx="0" cy="390376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5002" y="2478732"/>
            <a:ext cx="353644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 · USER · 技术栈偏好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75002" y="2624733"/>
            <a:ext cx="353644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user_frontend_arch.md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09951" y="2818358"/>
            <a:ext cx="3759101" cy="88523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36902" y="2881759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Framework: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React 18 + TS + pnpm + Vite + AntD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36902" y="2990106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Agent Edit: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3-panel (main | tabs | chat)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736902" y="309845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Tokens: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Primary #165DFF · text #1D2129 ·</a:t>
            </a:r>
            <a:endParaRPr lang="en-US" sz="700" dirty="0"/>
          </a:p>
        </p:txBody>
      </p:sp>
      <p:sp>
        <p:nvSpPr>
          <p:cNvPr id="108" name="Text 49"/>
          <p:cNvSpPr/>
          <p:nvPr/>
        </p:nvSpPr>
        <p:spPr>
          <a:xfrm>
            <a:off x="4736902" y="320680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border #E5E6EB · page bg #F7F8FA</a:t>
            </a:r>
            <a:endParaRPr lang="en-US" sz="700" dirty="0"/>
          </a:p>
        </p:txBody>
      </p:sp>
      <p:sp>
        <p:nvSpPr>
          <p:cNvPr id="109" name="Text 50"/>
          <p:cNvSpPr/>
          <p:nvPr/>
        </p:nvSpPr>
        <p:spPr>
          <a:xfrm>
            <a:off x="4736902" y="3315146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MainEdit: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nameRow + promptSection (flex:1)</a:t>
            </a:r>
            <a:endParaRPr lang="en-US" sz="700" dirty="0"/>
          </a:p>
        </p:txBody>
      </p:sp>
      <p:sp>
        <p:nvSpPr>
          <p:cNvPr id="110" name="Text 51"/>
          <p:cNvSpPr/>
          <p:nvPr/>
        </p:nvSpPr>
        <p:spPr>
          <a:xfrm>
            <a:off x="4736902" y="3423493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+ modelBar (model/temp/topP/maxTokens)</a:t>
            </a:r>
            <a:endParaRPr lang="en-US" sz="700" dirty="0"/>
          </a:p>
        </p:txBody>
      </p:sp>
      <p:sp>
        <p:nvSpPr>
          <p:cNvPr id="111" name="Text 52"/>
          <p:cNvSpPr/>
          <p:nvPr/>
        </p:nvSpPr>
        <p:spPr>
          <a:xfrm>
            <a:off x="4736902" y="3531840"/>
            <a:ext cx="3575304" cy="108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Font: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Inter + DM Mono</a:t>
            </a:r>
            <a:endParaRPr lang="en-US" sz="700" dirty="0"/>
          </a:p>
        </p:txBody>
      </p:sp>
      <p:sp>
        <p:nvSpPr>
          <p:cNvPr id="112" name="Text 53"/>
          <p:cNvSpPr/>
          <p:nvPr/>
        </p:nvSpPr>
        <p:spPr>
          <a:xfrm>
            <a:off x="762000" y="3779788"/>
            <a:ext cx="7620000" cy="452438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3" name="Text 54"/>
          <p:cNvSpPr/>
          <p:nvPr/>
        </p:nvSpPr>
        <p:spPr>
          <a:xfrm>
            <a:off x="965150" y="3843189"/>
            <a:ext cx="7357973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跨类型共同点：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每条都有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（决策根因，判断仍适用）和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How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（触发条件，判断何时启用）。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长度差 30×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（branding 3 行 vs rust_runtime_waves 400+ 行），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一视同仁地加载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3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03.2 · SUB-AGENT · PARALLEL ACROSS STACKS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69850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跨栈并行：一次 commit，五种审查同时跑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98475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改完 auth 后自动派活 — 不是我一条条等，是 5 条泳道一起游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50900"/>
            <a:ext cx="7620000" cy="594122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5150" y="1352401"/>
            <a:ext cx="7357973" cy="391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场景：</a:t>
            </a:r>
            <a:r>
              <a:rPr lang="en-US" sz="11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改了 platform-auth 的 token 签发 → 同时影响 Java Core / Go Orchestrator / Python 兼容层 / TS 前端 / Nacos 配置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2065586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JAVA lane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58901" y="1997422"/>
            <a:ext cx="6223099" cy="2793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177951" y="1997422"/>
            <a:ext cx="0" cy="27935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23951" y="2053828"/>
            <a:ext cx="4262524" cy="166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security-reviewer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OWASP + Spring Boot 鉴权链 + sa-token 会话一致性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2000" y="2408337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GO lane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58901" y="2340173"/>
            <a:ext cx="6223099" cy="2793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177951" y="2340173"/>
            <a:ext cx="0" cy="27935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3951" y="2396579"/>
            <a:ext cx="3762783" cy="166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build-error-resolver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go build + go test · workflow 调用链不断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2000" y="2751088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PYTHON lane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58901" y="2682925"/>
            <a:ext cx="6223099" cy="2793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177951" y="2682925"/>
            <a:ext cx="0" cy="27935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3951" y="2739330"/>
            <a:ext cx="3935233" cy="166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Explore + pytest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runtime 兼容性检查 · 新 token 格式不破坏旧会话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2000" y="3093839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TS lane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58901" y="3025676"/>
            <a:ext cx="6223099" cy="2793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177951" y="3025676"/>
            <a:ext cx="0" cy="27935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23951" y="3082082"/>
            <a:ext cx="2987061" cy="166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e2e-runner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Playwright 跑登录/权限/ChatPanel 流程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2000" y="3436590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DB + DOC lane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58901" y="3368427"/>
            <a:ext cx="6223099" cy="2793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177951" y="3368427"/>
            <a:ext cx="0" cy="27935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23951" y="3424833"/>
            <a:ext cx="4506322" cy="166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database-reviewer + doc-updater</a:t>
            </a:r>
            <a:r>
              <a:rPr lang="en-US" sz="9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schema 对齐 · Nacos yaml + codemap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2000" y="3838129"/>
            <a:ext cx="7620000" cy="92050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62000" y="3857179"/>
            <a:ext cx="7620000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701" y="3977729"/>
            <a:ext cx="740989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TOP 5 REAL AGENT CALLS · 本项目 772 次累计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49226" y="4190405"/>
            <a:ext cx="0" cy="466725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0252" y="4190405"/>
            <a:ext cx="12554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0252" y="4361855"/>
            <a:ext cx="125542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Explore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0252" y="4495205"/>
            <a:ext cx="12554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跨栈侦查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27536" y="4190405"/>
            <a:ext cx="0" cy="466725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8561" y="4190405"/>
            <a:ext cx="12554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203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38561" y="4361855"/>
            <a:ext cx="125542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general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38561" y="4495205"/>
            <a:ext cx="12554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综合任务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05845" y="4190405"/>
            <a:ext cx="0" cy="466725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6871" y="4190405"/>
            <a:ext cx="12554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016871" y="4361855"/>
            <a:ext cx="125542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team-impl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16871" y="4495205"/>
            <a:ext cx="12554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并行实施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84155" y="4190405"/>
            <a:ext cx="0" cy="466725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95181" y="4190405"/>
            <a:ext cx="12554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95181" y="4361855"/>
            <a:ext cx="125542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95181" y="4495205"/>
            <a:ext cx="12554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跨栈规划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62465" y="4190405"/>
            <a:ext cx="0" cy="466725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3491" y="4190405"/>
            <a:ext cx="1255425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73491" y="4361855"/>
            <a:ext cx="125542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team-debug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73491" y="4495205"/>
            <a:ext cx="125542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跨栈排障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762000" y="30480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03.2 · SUB-AGENT · REAL DATA</a:t>
            </a:r>
            <a:endParaRPr lang="en-US" sz="1100" dirty="0"/>
          </a:p>
        </p:txBody>
      </p:sp>
      <p:sp>
        <p:nvSpPr>
          <p:cNvPr id="51" name="Text 1"/>
          <p:cNvSpPr/>
          <p:nvPr/>
        </p:nvSpPr>
        <p:spPr>
          <a:xfrm>
            <a:off x="762000" y="507950"/>
            <a:ext cx="7772400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不用想象，看数据</a:t>
            </a:r>
            <a:endParaRPr lang="en-US" sz="2400" dirty="0"/>
          </a:p>
        </p:txBody>
      </p:sp>
      <p:sp>
        <p:nvSpPr>
          <p:cNvPr id="52" name="Text 2"/>
          <p:cNvSpPr/>
          <p:nvPr/>
        </p:nvSpPr>
        <p:spPr>
          <a:xfrm>
            <a:off x="762000" y="987326"/>
            <a:ext cx="777240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本项目 214 个 session · 过去几个月真实调用分布</a:t>
            </a:r>
            <a:endParaRPr lang="en-US" sz="1200" dirty="0"/>
          </a:p>
        </p:txBody>
      </p:sp>
      <p:sp>
        <p:nvSpPr>
          <p:cNvPr id="53" name="Text 3"/>
          <p:cNvSpPr/>
          <p:nvPr/>
        </p:nvSpPr>
        <p:spPr>
          <a:xfrm>
            <a:off x="762000" y="1349276"/>
            <a:ext cx="7620000" cy="711101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"/>
          <p:cNvSpPr/>
          <p:nvPr/>
        </p:nvSpPr>
        <p:spPr>
          <a:xfrm>
            <a:off x="990600" y="1476226"/>
            <a:ext cx="789081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791</a:t>
            </a:r>
            <a:endParaRPr lang="en-US" sz="3600" dirty="0"/>
          </a:p>
        </p:txBody>
      </p:sp>
      <p:sp>
        <p:nvSpPr>
          <p:cNvPr id="55" name="Text 5"/>
          <p:cNvSpPr/>
          <p:nvPr/>
        </p:nvSpPr>
        <p:spPr>
          <a:xfrm>
            <a:off x="1967359" y="1514326"/>
            <a:ext cx="3435340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TOTAL AGENT INVOCATIONS</a:t>
            </a:r>
            <a:endParaRPr lang="en-US" sz="900" dirty="0"/>
          </a:p>
        </p:txBody>
      </p:sp>
      <p:sp>
        <p:nvSpPr>
          <p:cNvPr id="56" name="Text 6"/>
          <p:cNvSpPr/>
          <p:nvPr/>
        </p:nvSpPr>
        <p:spPr>
          <a:xfrm>
            <a:off x="1967359" y="1699617"/>
            <a:ext cx="3435340" cy="195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 在本项目累计发起的 sub-agent 调用次数</a:t>
            </a:r>
            <a:endParaRPr lang="en-US" sz="1100" dirty="0"/>
          </a:p>
        </p:txBody>
      </p:sp>
      <p:sp>
        <p:nvSpPr>
          <p:cNvPr id="57" name="Text 7"/>
          <p:cNvSpPr/>
          <p:nvPr/>
        </p:nvSpPr>
        <p:spPr>
          <a:xfrm>
            <a:off x="762000" y="2268141"/>
            <a:ext cx="181345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Explore</a:t>
            </a:r>
            <a:endParaRPr lang="en-US" sz="1000" dirty="0"/>
          </a:p>
        </p:txBody>
      </p:sp>
      <p:sp>
        <p:nvSpPr>
          <p:cNvPr id="58" name="Text 8"/>
          <p:cNvSpPr/>
          <p:nvPr/>
        </p:nvSpPr>
        <p:spPr>
          <a:xfrm>
            <a:off x="2539901" y="2238077"/>
            <a:ext cx="5842099" cy="2031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9"/>
          <p:cNvSpPr/>
          <p:nvPr/>
        </p:nvSpPr>
        <p:spPr>
          <a:xfrm>
            <a:off x="2539901" y="2238077"/>
            <a:ext cx="4658320" cy="203150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10"/>
          <p:cNvSpPr/>
          <p:nvPr/>
        </p:nvSpPr>
        <p:spPr>
          <a:xfrm>
            <a:off x="2641402" y="2268141"/>
            <a:ext cx="6995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310 · 40%</a:t>
            </a:r>
            <a:endParaRPr lang="en-US" sz="1000" dirty="0"/>
          </a:p>
        </p:txBody>
      </p:sp>
      <p:sp>
        <p:nvSpPr>
          <p:cNvPr id="61" name="Text 11"/>
          <p:cNvSpPr/>
          <p:nvPr/>
        </p:nvSpPr>
        <p:spPr>
          <a:xfrm>
            <a:off x="762000" y="2547491"/>
            <a:ext cx="181345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general-purpose</a:t>
            </a:r>
            <a:endParaRPr lang="en-US" sz="1000" dirty="0"/>
          </a:p>
        </p:txBody>
      </p:sp>
      <p:sp>
        <p:nvSpPr>
          <p:cNvPr id="62" name="Text 12"/>
          <p:cNvSpPr/>
          <p:nvPr/>
        </p:nvSpPr>
        <p:spPr>
          <a:xfrm>
            <a:off x="2539901" y="2517428"/>
            <a:ext cx="5842099" cy="2031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13"/>
          <p:cNvSpPr/>
          <p:nvPr/>
        </p:nvSpPr>
        <p:spPr>
          <a:xfrm>
            <a:off x="2539901" y="2517428"/>
            <a:ext cx="2905571" cy="203150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14"/>
          <p:cNvSpPr/>
          <p:nvPr/>
        </p:nvSpPr>
        <p:spPr>
          <a:xfrm>
            <a:off x="2641402" y="2547491"/>
            <a:ext cx="699516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194 · 25%</a:t>
            </a:r>
            <a:endParaRPr lang="en-US" sz="1000" dirty="0"/>
          </a:p>
        </p:txBody>
      </p:sp>
      <p:sp>
        <p:nvSpPr>
          <p:cNvPr id="65" name="Text 15"/>
          <p:cNvSpPr/>
          <p:nvPr/>
        </p:nvSpPr>
        <p:spPr>
          <a:xfrm>
            <a:off x="762000" y="2826841"/>
            <a:ext cx="181345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team-implementer</a:t>
            </a:r>
            <a:endParaRPr lang="en-US" sz="1000" dirty="0"/>
          </a:p>
        </p:txBody>
      </p:sp>
      <p:sp>
        <p:nvSpPr>
          <p:cNvPr id="66" name="Text 16"/>
          <p:cNvSpPr/>
          <p:nvPr/>
        </p:nvSpPr>
        <p:spPr>
          <a:xfrm>
            <a:off x="2539901" y="2796778"/>
            <a:ext cx="5842099" cy="2031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17"/>
          <p:cNvSpPr/>
          <p:nvPr/>
        </p:nvSpPr>
        <p:spPr>
          <a:xfrm>
            <a:off x="2539901" y="2796778"/>
            <a:ext cx="1620441" cy="20315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18"/>
          <p:cNvSpPr/>
          <p:nvPr/>
        </p:nvSpPr>
        <p:spPr>
          <a:xfrm>
            <a:off x="2641402" y="2826841"/>
            <a:ext cx="621792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98 · 12%</a:t>
            </a:r>
            <a:endParaRPr lang="en-US" sz="1000" dirty="0"/>
          </a:p>
        </p:txBody>
      </p:sp>
      <p:sp>
        <p:nvSpPr>
          <p:cNvPr id="69" name="Text 19"/>
          <p:cNvSpPr/>
          <p:nvPr/>
        </p:nvSpPr>
        <p:spPr>
          <a:xfrm>
            <a:off x="762000" y="3106192"/>
            <a:ext cx="181345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Plan</a:t>
            </a:r>
            <a:endParaRPr lang="en-US" sz="1000" dirty="0"/>
          </a:p>
        </p:txBody>
      </p:sp>
      <p:sp>
        <p:nvSpPr>
          <p:cNvPr id="70" name="Text 20"/>
          <p:cNvSpPr/>
          <p:nvPr/>
        </p:nvSpPr>
        <p:spPr>
          <a:xfrm>
            <a:off x="2539901" y="3076129"/>
            <a:ext cx="5842099" cy="2031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21"/>
          <p:cNvSpPr/>
          <p:nvPr/>
        </p:nvSpPr>
        <p:spPr>
          <a:xfrm>
            <a:off x="2539901" y="3076129"/>
            <a:ext cx="685651" cy="203150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22"/>
          <p:cNvSpPr/>
          <p:nvPr/>
        </p:nvSpPr>
        <p:spPr>
          <a:xfrm>
            <a:off x="2641402" y="3106192"/>
            <a:ext cx="544068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35 · 4%</a:t>
            </a:r>
            <a:endParaRPr lang="en-US" sz="1000" dirty="0"/>
          </a:p>
        </p:txBody>
      </p:sp>
      <p:sp>
        <p:nvSpPr>
          <p:cNvPr id="73" name="Text 23"/>
          <p:cNvSpPr/>
          <p:nvPr/>
        </p:nvSpPr>
        <p:spPr>
          <a:xfrm>
            <a:off x="762000" y="3385542"/>
            <a:ext cx="181345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team-debugger</a:t>
            </a:r>
            <a:endParaRPr lang="en-US" sz="1000" dirty="0"/>
          </a:p>
        </p:txBody>
      </p:sp>
      <p:sp>
        <p:nvSpPr>
          <p:cNvPr id="74" name="Text 24"/>
          <p:cNvSpPr/>
          <p:nvPr/>
        </p:nvSpPr>
        <p:spPr>
          <a:xfrm>
            <a:off x="2539901" y="3355479"/>
            <a:ext cx="5842099" cy="203150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25"/>
          <p:cNvSpPr/>
          <p:nvPr/>
        </p:nvSpPr>
        <p:spPr>
          <a:xfrm>
            <a:off x="2539901" y="3355479"/>
            <a:ext cx="568821" cy="20315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26"/>
          <p:cNvSpPr/>
          <p:nvPr/>
        </p:nvSpPr>
        <p:spPr>
          <a:xfrm>
            <a:off x="2641600" y="3396615"/>
            <a:ext cx="1239520" cy="285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27 · 3%</a:t>
            </a:r>
            <a:endParaRPr lang="en-US" sz="1000" dirty="0"/>
          </a:p>
        </p:txBody>
      </p:sp>
      <p:sp>
        <p:nvSpPr>
          <p:cNvPr id="77" name="Text 27"/>
          <p:cNvSpPr/>
          <p:nvPr/>
        </p:nvSpPr>
        <p:spPr>
          <a:xfrm>
            <a:off x="762000" y="3787229"/>
            <a:ext cx="7620000" cy="645021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28"/>
          <p:cNvSpPr/>
          <p:nvPr/>
        </p:nvSpPr>
        <p:spPr>
          <a:xfrm>
            <a:off x="785813" y="3787229"/>
            <a:ext cx="0" cy="645021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79" name="Text 29"/>
          <p:cNvSpPr/>
          <p:nvPr/>
        </p:nvSpPr>
        <p:spPr>
          <a:xfrm>
            <a:off x="1038225" y="4029750"/>
            <a:ext cx="7257479" cy="391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注意那两条深色的 —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team-implementer 98 次 + team-debugger 27 次 = </a:t>
            </a: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125 次团队调用，占 15%</a:t>
            </a:r>
            <a:r>
              <a:rPr lang="en-US" sz="11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3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03.2.1 · THE LOAD OF 4 STACKS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825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 栈的质量负荷 · 主干全周期数据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92377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2026-02-26 至今，2 个月不到，凭什么一个人做完还能保质量？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76201"/>
            <a:ext cx="1809750" cy="72375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1276201"/>
            <a:ext cx="0" cy="723751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2500" y="1377702"/>
            <a:ext cx="1496187" cy="254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55d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52500" y="1669852"/>
            <a:ext cx="149618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MAINLINE · ~2 MONTHS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98700" y="1276201"/>
            <a:ext cx="1809750" cy="72375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717750" y="1276201"/>
            <a:ext cx="0" cy="723751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200" y="1377702"/>
            <a:ext cx="1496187" cy="254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974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9200" y="1669852"/>
            <a:ext cx="149618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TOTAL COMMITS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35401" y="1276201"/>
            <a:ext cx="1809750" cy="72375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54451" y="1276201"/>
            <a:ext cx="0" cy="723751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5901" y="1377702"/>
            <a:ext cx="1496187" cy="254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5901" y="1669852"/>
            <a:ext cx="149618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CROSS ≥3 MODULES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72101" y="1276201"/>
            <a:ext cx="1809750" cy="723751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591151" y="1276201"/>
            <a:ext cx="0" cy="723751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2601" y="1377702"/>
            <a:ext cx="1496187" cy="2540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62601" y="1669852"/>
            <a:ext cx="149618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2000" y="2169765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Java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05000" y="2152352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905000" y="2152352"/>
            <a:ext cx="5387280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981200" y="2174528"/>
            <a:ext cx="3778115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259 commits · platform-auth / tenant / store / observe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2398216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Python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05000" y="2380804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905000" y="2380804"/>
            <a:ext cx="2925961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81200" y="2388691"/>
            <a:ext cx="249536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137 commits · runtime 维护 · SDK 适配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2000" y="2626668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05000" y="2609255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905000" y="2609255"/>
            <a:ext cx="4804321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981200" y="2617143"/>
            <a:ext cx="370798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231 commits · admin · ChatPanel · 3 面板配置 · API 联调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2000" y="2855119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905000" y="2837706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905000" y="2837706"/>
            <a:ext cx="788640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981200" y="2858135"/>
            <a:ext cx="3248025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36 commits </a:t>
            </a: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orchestrator · workflow · a2a</a:t>
            </a:r>
            <a:endParaRPr lang="en-US" sz="900" b="1" dirty="0">
              <a:solidFill>
                <a:srgbClr val="CC785C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2000" y="3218557"/>
            <a:ext cx="7620000" cy="1073646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65150" y="3345507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典型跨栈 COMMIT · 真实数据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5150" y="3556248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6334e217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知识库：Java 核心 + Python 运行 + TS 面板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3 栈联动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5150" y="3759250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9094e084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admin 面板：Java schema + TS × 3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2 栈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65150" y="3962251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7b08c36b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图像 KB：纯 Python 15 个文件 + JSON 配置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单栈大改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762000" y="2793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03.2.2 · A REAL DAY</a:t>
            </a:r>
            <a:endParaRPr lang="en-US" sz="1100" dirty="0"/>
          </a:p>
        </p:txBody>
      </p:sp>
      <p:sp>
        <p:nvSpPr>
          <p:cNvPr id="17" name="Text 1"/>
          <p:cNvSpPr/>
          <p:nvPr/>
        </p:nvSpPr>
        <p:spPr>
          <a:xfrm>
            <a:off x="762000" y="4825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2026-04-19 · 我的一天</a:t>
            </a:r>
            <a:endParaRPr lang="en-US" sz="2200" dirty="0"/>
          </a:p>
        </p:txBody>
      </p:sp>
      <p:sp>
        <p:nvSpPr>
          <p:cNvPr id="18" name="Text 2"/>
          <p:cNvSpPr/>
          <p:nvPr/>
        </p:nvSpPr>
        <p:spPr>
          <a:xfrm>
            <a:off x="762000" y="92377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这不是假设，是 git log 里真实的一天 — 一个人，五种语言</a:t>
            </a:r>
            <a:endParaRPr lang="en-US" sz="1100" dirty="0"/>
          </a:p>
        </p:txBody>
      </p:sp>
      <p:sp>
        <p:nvSpPr>
          <p:cNvPr id="19" name="Text 3"/>
          <p:cNvSpPr/>
          <p:nvPr/>
        </p:nvSpPr>
        <p:spPr>
          <a:xfrm>
            <a:off x="762000" y="1276201"/>
            <a:ext cx="1809750" cy="7490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4"/>
          <p:cNvSpPr/>
          <p:nvPr/>
        </p:nvSpPr>
        <p:spPr>
          <a:xfrm>
            <a:off x="781050" y="1276201"/>
            <a:ext cx="0" cy="749052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1" name="Text 5"/>
          <p:cNvSpPr/>
          <p:nvPr/>
        </p:nvSpPr>
        <p:spPr>
          <a:xfrm>
            <a:off x="952500" y="1377702"/>
            <a:ext cx="149618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191</a:t>
            </a:r>
            <a:endParaRPr lang="en-US" sz="2200" dirty="0"/>
          </a:p>
        </p:txBody>
      </p:sp>
      <p:sp>
        <p:nvSpPr>
          <p:cNvPr id="22" name="Text 6"/>
          <p:cNvSpPr/>
          <p:nvPr/>
        </p:nvSpPr>
        <p:spPr>
          <a:xfrm>
            <a:off x="952500" y="1695152"/>
            <a:ext cx="149618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COMMITS · IN 24H</a:t>
            </a:r>
            <a:endParaRPr lang="en-US" sz="850" dirty="0"/>
          </a:p>
        </p:txBody>
      </p:sp>
      <p:sp>
        <p:nvSpPr>
          <p:cNvPr id="23" name="Text 7"/>
          <p:cNvSpPr/>
          <p:nvPr/>
        </p:nvSpPr>
        <p:spPr>
          <a:xfrm>
            <a:off x="2698700" y="1276201"/>
            <a:ext cx="1809750" cy="7490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8"/>
          <p:cNvSpPr/>
          <p:nvPr/>
        </p:nvSpPr>
        <p:spPr>
          <a:xfrm>
            <a:off x="2717750" y="1276201"/>
            <a:ext cx="0" cy="749052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5" name="Text 9"/>
          <p:cNvSpPr/>
          <p:nvPr/>
        </p:nvSpPr>
        <p:spPr>
          <a:xfrm>
            <a:off x="2889200" y="1377702"/>
            <a:ext cx="149618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10"/>
          <p:cNvSpPr/>
          <p:nvPr/>
        </p:nvSpPr>
        <p:spPr>
          <a:xfrm>
            <a:off x="2889200" y="1695152"/>
            <a:ext cx="149618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LANGUAGES TOUCHED</a:t>
            </a:r>
            <a:endParaRPr lang="en-US" sz="850" dirty="0"/>
          </a:p>
        </p:txBody>
      </p:sp>
      <p:sp>
        <p:nvSpPr>
          <p:cNvPr id="27" name="Text 11"/>
          <p:cNvSpPr/>
          <p:nvPr/>
        </p:nvSpPr>
        <p:spPr>
          <a:xfrm>
            <a:off x="4635401" y="1276201"/>
            <a:ext cx="1809750" cy="7490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2"/>
          <p:cNvSpPr/>
          <p:nvPr/>
        </p:nvSpPr>
        <p:spPr>
          <a:xfrm>
            <a:off x="4654451" y="1276201"/>
            <a:ext cx="0" cy="749052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9" name="Text 13"/>
          <p:cNvSpPr/>
          <p:nvPr/>
        </p:nvSpPr>
        <p:spPr>
          <a:xfrm>
            <a:off x="4825901" y="1377702"/>
            <a:ext cx="149618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~20</a:t>
            </a:r>
            <a:endParaRPr lang="en-US" sz="2200" dirty="0"/>
          </a:p>
        </p:txBody>
      </p:sp>
      <p:sp>
        <p:nvSpPr>
          <p:cNvPr id="30" name="Text 14"/>
          <p:cNvSpPr/>
          <p:nvPr/>
        </p:nvSpPr>
        <p:spPr>
          <a:xfrm>
            <a:off x="4825901" y="1695152"/>
            <a:ext cx="1496187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PARALLEL AGENT TURNS</a:t>
            </a:r>
            <a:endParaRPr lang="en-US" sz="850" dirty="0"/>
          </a:p>
        </p:txBody>
      </p:sp>
      <p:sp>
        <p:nvSpPr>
          <p:cNvPr id="31" name="Text 15"/>
          <p:cNvSpPr/>
          <p:nvPr/>
        </p:nvSpPr>
        <p:spPr>
          <a:xfrm>
            <a:off x="6572101" y="1276201"/>
            <a:ext cx="1809750" cy="74905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16"/>
          <p:cNvSpPr/>
          <p:nvPr/>
        </p:nvSpPr>
        <p:spPr>
          <a:xfrm>
            <a:off x="6591151" y="1276201"/>
            <a:ext cx="0" cy="749052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33" name="Text 17"/>
          <p:cNvSpPr/>
          <p:nvPr/>
        </p:nvSpPr>
        <p:spPr>
          <a:xfrm>
            <a:off x="6762601" y="1377702"/>
            <a:ext cx="1496187" cy="279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18"/>
          <p:cNvSpPr/>
          <p:nvPr/>
        </p:nvSpPr>
        <p:spPr>
          <a:xfrm>
            <a:off x="6762601" y="1695152"/>
            <a:ext cx="1496187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HUMAN</a:t>
            </a:r>
            <a:endParaRPr lang="en-US" sz="850" dirty="0"/>
          </a:p>
        </p:txBody>
      </p:sp>
      <p:sp>
        <p:nvSpPr>
          <p:cNvPr id="35" name="Text 19"/>
          <p:cNvSpPr/>
          <p:nvPr/>
        </p:nvSpPr>
        <p:spPr>
          <a:xfrm>
            <a:off x="762000" y="2195066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Rust</a:t>
            </a:r>
            <a:endParaRPr lang="en-US" sz="950" dirty="0"/>
          </a:p>
        </p:txBody>
      </p:sp>
      <p:sp>
        <p:nvSpPr>
          <p:cNvPr id="36" name="Text 20"/>
          <p:cNvSpPr/>
          <p:nvPr/>
        </p:nvSpPr>
        <p:spPr>
          <a:xfrm>
            <a:off x="1905000" y="2177653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1"/>
          <p:cNvSpPr/>
          <p:nvPr/>
        </p:nvSpPr>
        <p:spPr>
          <a:xfrm>
            <a:off x="1905000" y="2177653"/>
            <a:ext cx="5775871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2"/>
          <p:cNvSpPr/>
          <p:nvPr/>
        </p:nvSpPr>
        <p:spPr>
          <a:xfrm>
            <a:off x="1981200" y="2185541"/>
            <a:ext cx="317165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ap-runtime / ap-store / ap-bailian · Wave 批次</a:t>
            </a:r>
            <a:endParaRPr lang="en-US" sz="900" dirty="0"/>
          </a:p>
        </p:txBody>
      </p:sp>
      <p:sp>
        <p:nvSpPr>
          <p:cNvPr id="39" name="Text 23"/>
          <p:cNvSpPr/>
          <p:nvPr/>
        </p:nvSpPr>
        <p:spPr>
          <a:xfrm>
            <a:off x="762000" y="2423517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Java</a:t>
            </a:r>
            <a:endParaRPr lang="en-US" sz="950" dirty="0"/>
          </a:p>
        </p:txBody>
      </p:sp>
      <p:sp>
        <p:nvSpPr>
          <p:cNvPr id="40" name="Text 24"/>
          <p:cNvSpPr/>
          <p:nvPr/>
        </p:nvSpPr>
        <p:spPr>
          <a:xfrm>
            <a:off x="1905000" y="2406104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25"/>
          <p:cNvSpPr/>
          <p:nvPr/>
        </p:nvSpPr>
        <p:spPr>
          <a:xfrm>
            <a:off x="1905000" y="2406104"/>
            <a:ext cx="4091880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26"/>
          <p:cNvSpPr/>
          <p:nvPr/>
        </p:nvSpPr>
        <p:spPr>
          <a:xfrm>
            <a:off x="1981200" y="2413992"/>
            <a:ext cx="2985087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platform-auth / tenant / store 权限与租户隔离</a:t>
            </a:r>
            <a:endParaRPr lang="en-US" sz="900" dirty="0"/>
          </a:p>
        </p:txBody>
      </p:sp>
      <p:sp>
        <p:nvSpPr>
          <p:cNvPr id="43" name="Text 27"/>
          <p:cNvSpPr/>
          <p:nvPr/>
        </p:nvSpPr>
        <p:spPr>
          <a:xfrm>
            <a:off x="762000" y="2651968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Python</a:t>
            </a:r>
            <a:endParaRPr lang="en-US" sz="950" dirty="0"/>
          </a:p>
        </p:txBody>
      </p:sp>
      <p:sp>
        <p:nvSpPr>
          <p:cNvPr id="44" name="Text 28"/>
          <p:cNvSpPr/>
          <p:nvPr/>
        </p:nvSpPr>
        <p:spPr>
          <a:xfrm>
            <a:off x="1905000" y="2634555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29"/>
          <p:cNvSpPr/>
          <p:nvPr/>
        </p:nvSpPr>
        <p:spPr>
          <a:xfrm>
            <a:off x="1905000" y="2634555"/>
            <a:ext cx="2343150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0"/>
          <p:cNvSpPr/>
          <p:nvPr/>
        </p:nvSpPr>
        <p:spPr>
          <a:xfrm>
            <a:off x="1981200" y="2642443"/>
            <a:ext cx="1912284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legacy runtime · parity 对标</a:t>
            </a:r>
            <a:endParaRPr lang="en-US" sz="900" dirty="0"/>
          </a:p>
        </p:txBody>
      </p:sp>
      <p:sp>
        <p:nvSpPr>
          <p:cNvPr id="47" name="Text 31"/>
          <p:cNvSpPr/>
          <p:nvPr/>
        </p:nvSpPr>
        <p:spPr>
          <a:xfrm>
            <a:off x="762000" y="2880420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48" name="Text 32"/>
          <p:cNvSpPr/>
          <p:nvPr/>
        </p:nvSpPr>
        <p:spPr>
          <a:xfrm>
            <a:off x="1905000" y="2863007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3"/>
          <p:cNvSpPr/>
          <p:nvPr/>
        </p:nvSpPr>
        <p:spPr>
          <a:xfrm>
            <a:off x="1905000" y="2863007"/>
            <a:ext cx="1889671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4"/>
          <p:cNvSpPr/>
          <p:nvPr/>
        </p:nvSpPr>
        <p:spPr>
          <a:xfrm>
            <a:off x="1981200" y="2870895"/>
            <a:ext cx="179569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admin 面板 · ChatPanel 基准</a:t>
            </a:r>
            <a:endParaRPr lang="en-US" sz="900" dirty="0"/>
          </a:p>
        </p:txBody>
      </p:sp>
      <p:sp>
        <p:nvSpPr>
          <p:cNvPr id="51" name="Text 35"/>
          <p:cNvSpPr/>
          <p:nvPr/>
        </p:nvSpPr>
        <p:spPr>
          <a:xfrm>
            <a:off x="762000" y="3108871"/>
            <a:ext cx="1165860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Go</a:t>
            </a:r>
            <a:endParaRPr lang="en-US" sz="950" dirty="0"/>
          </a:p>
        </p:txBody>
      </p:sp>
      <p:sp>
        <p:nvSpPr>
          <p:cNvPr id="52" name="Text 36"/>
          <p:cNvSpPr/>
          <p:nvPr/>
        </p:nvSpPr>
        <p:spPr>
          <a:xfrm>
            <a:off x="1905000" y="3091458"/>
            <a:ext cx="6477000" cy="177701"/>
          </a:xfrm>
          <a:prstGeom prst="rect">
            <a:avLst/>
          </a:prstGeom>
          <a:solidFill>
            <a:srgbClr val="EFE7D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37"/>
          <p:cNvSpPr/>
          <p:nvPr/>
        </p:nvSpPr>
        <p:spPr>
          <a:xfrm>
            <a:off x="1905000" y="3091458"/>
            <a:ext cx="982861" cy="1777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38"/>
          <p:cNvSpPr/>
          <p:nvPr/>
        </p:nvSpPr>
        <p:spPr>
          <a:xfrm>
            <a:off x="1981200" y="3112770"/>
            <a:ext cx="2496820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orchestrator </a:t>
            </a: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· workflow</a:t>
            </a:r>
            <a:endParaRPr lang="en-US" sz="900" b="1" dirty="0">
              <a:solidFill>
                <a:srgbClr val="CC785C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</p:txBody>
      </p:sp>
      <p:sp>
        <p:nvSpPr>
          <p:cNvPr id="55" name="Text 39"/>
          <p:cNvSpPr/>
          <p:nvPr/>
        </p:nvSpPr>
        <p:spPr>
          <a:xfrm>
            <a:off x="762000" y="3472309"/>
            <a:ext cx="7620000" cy="1073646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0"/>
          <p:cNvSpPr/>
          <p:nvPr/>
        </p:nvSpPr>
        <p:spPr>
          <a:xfrm>
            <a:off x="965150" y="3599259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典型跨栈 COMMIT 链</a:t>
            </a:r>
            <a:endParaRPr lang="en-US" sz="900" dirty="0"/>
          </a:p>
        </p:txBody>
      </p:sp>
      <p:sp>
        <p:nvSpPr>
          <p:cNvPr id="57" name="Text 41"/>
          <p:cNvSpPr/>
          <p:nvPr/>
        </p:nvSpPr>
        <p:spPr>
          <a:xfrm>
            <a:off x="965150" y="3810000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b23dc25c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auth + tenant + store → 3 platform 模块 (Java)</a:t>
            </a:r>
            <a:endParaRPr lang="en-US" sz="1000" dirty="0"/>
          </a:p>
        </p:txBody>
      </p:sp>
      <p:sp>
        <p:nvSpPr>
          <p:cNvPr id="58" name="Text 42"/>
          <p:cNvSpPr/>
          <p:nvPr/>
        </p:nvSpPr>
        <p:spPr>
          <a:xfrm>
            <a:off x="965150" y="4013002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0d250cf0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Java tenant handlers + Rust tenant → 租户隔离跨栈</a:t>
            </a:r>
            <a:endParaRPr lang="en-US" sz="1000" dirty="0"/>
          </a:p>
        </p:txBody>
      </p:sp>
      <p:sp>
        <p:nvSpPr>
          <p:cNvPr id="59" name="Text 43"/>
          <p:cNvSpPr/>
          <p:nvPr/>
        </p:nvSpPr>
        <p:spPr>
          <a:xfrm>
            <a:off x="965150" y="4216003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9094e084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admin 面板 TS × 3 + Java × 1 → 全栈小闭环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03.2.2 · ONE FEATURE ACROSS STACKS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444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一次"知识库引用"的跨栈链路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7302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真实 commit 6334e217 · 一次 feature 牵动 Java + Python + TS 三栈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25451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1244501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8950" y="1339751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· 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1479352"/>
            <a:ext cx="141239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platform-store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8950" y="1638002"/>
            <a:ext cx="1412391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知识库接口 + schema ·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security-reviewer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489299" y="1505248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55850" y="1225451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755850" y="1244501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2801" y="1339751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· JAVA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82801" y="1479352"/>
            <a:ext cx="141239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BaigongClient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2801" y="1638002"/>
            <a:ext cx="1412391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百工</a:t>
            </a:r>
            <a:r>
              <a:rPr lang="zh-CN" alt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智库</a:t>
            </a: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上游集成 · Feign ·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database-reviewer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83150" y="1505248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49701" y="1225451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49701" y="1244501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651" y="1339751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· PYTHON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76651" y="1479352"/>
            <a:ext cx="141239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runtime 适配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6651" y="1666577"/>
            <a:ext cx="1412391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兼容层对接新接口 ·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pytest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77000" y="1505248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43551" y="1225451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43551" y="1244501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0502" y="1339751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· 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70502" y="1479352"/>
            <a:ext cx="141239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ChatPanel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70502" y="1638002"/>
            <a:ext cx="1412391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引用可点击展开 ·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e2e-runner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62000" y="2070795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62000" y="2089845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8950" y="2185095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05 · CONFIG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88950" y="2324695"/>
            <a:ext cx="141239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Nacos yaml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8950" y="2483346"/>
            <a:ext cx="1412391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shared-llm / service-store ·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doc-updater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89299" y="2350591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755850" y="2070795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755850" y="2089845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2801" y="2185095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06 · DB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882801" y="2324695"/>
            <a:ext cx="141239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MySQL schema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82801" y="2483346"/>
            <a:ext cx="1412391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info_schema diff · 不走 Flyway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83150" y="2350591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749701" y="2070795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749701" y="2089845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6651" y="2185095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07 · DEPLOY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76651" y="2324695"/>
            <a:ext cx="1412391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git + k8s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76651" y="2483346"/>
            <a:ext cx="1412391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部署 memory 4 步 SOP · tencent/dev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77000" y="2350591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743551" y="2070795"/>
            <a:ext cx="1638598" cy="76914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743551" y="2089845"/>
            <a:ext cx="1638598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70502" y="2185095"/>
            <a:ext cx="1412391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08 · VERIFY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70502" y="2324695"/>
            <a:ext cx="1412391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pre 环境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70502" y="2511921"/>
            <a:ext cx="1412391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curl 冒烟 + 前端回放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62000" y="3068538"/>
            <a:ext cx="7620000" cy="1073646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65150" y="3195489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REAL COMMIT TRAIL · 近一周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65150" y="3406229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6334e217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chat 引用可点 · Java + Python + TS [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3 栈联动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]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65150" y="3609231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9535dca3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Feign BaigongClient 负载均衡修复 · Java 单栈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65150" y="3812232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7b08c36b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图搜图 · 纯 Python 15 file [单栈大改]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62000" y="4269135"/>
            <a:ext cx="7620000" cy="558403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85813" y="4269135"/>
            <a:ext cx="0" cy="558403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2775" y="4370636"/>
            <a:ext cx="7309396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 AI 的话：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这条链至少 1.5 天。有 AI：每步的 reviewer / pytest / e2e 都并行，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一人多栈的真实解法不是同时写 4 种语言，是同时发 4 条审查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3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03.2.3 · TEAM PRESETS · QUALITY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825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 个 preset，4 种质量保障场景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92377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不是新概念 — 是给已经在做的质量活儿配上专业团队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76201"/>
            <a:ext cx="7620000" cy="339626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9701" y="1365052"/>
            <a:ext cx="181345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PRESET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44552" y="1365052"/>
            <a:ext cx="300573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守住的质量 · 我的真实场景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18299" y="1365052"/>
            <a:ext cx="2331720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怎么并行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1615827"/>
            <a:ext cx="7620000" cy="53816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62000" y="2149227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701" y="1704677"/>
            <a:ext cx="18134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9701" y="1882378"/>
            <a:ext cx="18134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维度并行 reviewer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844552" y="1704677"/>
            <a:ext cx="300573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跨栈契约一致性 · drift 早发现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44552" y="1903214"/>
            <a:ext cx="30057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场景: Java API ↔ Python 兼容层 ↔ TS 类型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18299" y="1704677"/>
            <a:ext cx="2331720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security / types / behavior / edge / docs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五维同时扫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2000" y="2153989"/>
            <a:ext cx="7620000" cy="53816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762000" y="2687389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2242840"/>
            <a:ext cx="18134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fullstack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9701" y="2420541"/>
            <a:ext cx="181345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+ Python + TS + Go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44552" y="2242840"/>
            <a:ext cx="300573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 feature 质量 · 集成冲突前置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44552" y="2441377"/>
            <a:ext cx="30057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场景: 一次 feature 跨 ≥3 模块 · 37 次 / 55 天主干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18299" y="2242840"/>
            <a:ext cx="2331720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文件所有权锁死</a:t>
            </a: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：每个 worker 只能动自己分得的文件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62000" y="2692152"/>
            <a:ext cx="7620000" cy="53816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62000" y="3225552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9701" y="2781002"/>
            <a:ext cx="18134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debug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9701" y="2958703"/>
            <a:ext cx="18134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竞争假设 debugger ×N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44552" y="2781002"/>
            <a:ext cx="300573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跨栈故障定位 · 降低漏判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44552" y="2979539"/>
            <a:ext cx="30057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场景: 前端报错 → 根因在 Java / Python / Go？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18299" y="2781002"/>
            <a:ext cx="2331720" cy="1628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条假设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并行验证</a:t>
            </a: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不会走偏到死胡同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2000" y="3230314"/>
            <a:ext cx="7620000" cy="53816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62000" y="3763714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701" y="3319165"/>
            <a:ext cx="181345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9701" y="3496866"/>
            <a:ext cx="1813459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OWASP + auth + deps + secrets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844552" y="3319165"/>
            <a:ext cx="3005733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认证链路审计 · 跨栈鉴权一致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44552" y="3517702"/>
            <a:ext cx="300573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场景: Gateway + auth-service + sa-token + 前端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918299" y="3319165"/>
            <a:ext cx="2331720" cy="3256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5"/>
              </a:lnSpc>
              <a:buNone/>
            </a:pPr>
            <a:r>
              <a:rPr lang="en-US" sz="9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维度并行扫描 · 覆盖 Nacos → token 存储主路径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62000" y="3920877"/>
            <a:ext cx="7620000" cy="380702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85813" y="3920877"/>
            <a:ext cx="0" cy="38070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2775" y="4022378"/>
            <a:ext cx="7309396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质量门槛：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不是技术门槛，是纪律门槛 — 先画清 4 栈文件所有权，agent 团队才敢并跑。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762000" y="2793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03.3 · THE THIRD MECHANISM</a:t>
            </a:r>
            <a:endParaRPr lang="en-US" sz="1100" dirty="0"/>
          </a:p>
        </p:txBody>
      </p:sp>
      <p:sp>
        <p:nvSpPr>
          <p:cNvPr id="41" name="Text 1"/>
          <p:cNvSpPr/>
          <p:nvPr/>
        </p:nvSpPr>
        <p:spPr>
          <a:xfrm>
            <a:off x="762000" y="482501"/>
            <a:ext cx="7772400" cy="428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Skill：按需加载的能力插件</a:t>
            </a:r>
            <a:endParaRPr lang="en-US" sz="2400" dirty="0"/>
          </a:p>
        </p:txBody>
      </p:sp>
      <p:sp>
        <p:nvSpPr>
          <p:cNvPr id="42" name="Text 2"/>
          <p:cNvSpPr/>
          <p:nvPr/>
        </p:nvSpPr>
        <p:spPr>
          <a:xfrm>
            <a:off x="762000" y="961876"/>
            <a:ext cx="777240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 记状态、Sub-agent 委派任务，Skill 补第三条腿 — 能力</a:t>
            </a:r>
            <a:endParaRPr lang="en-US" sz="1200" dirty="0"/>
          </a:p>
        </p:txBody>
      </p:sp>
      <p:sp>
        <p:nvSpPr>
          <p:cNvPr id="43" name="Text 3"/>
          <p:cNvSpPr/>
          <p:nvPr/>
        </p:nvSpPr>
        <p:spPr>
          <a:xfrm>
            <a:off x="762000" y="1349127"/>
            <a:ext cx="2455366" cy="112990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"/>
          <p:cNvSpPr/>
          <p:nvPr/>
        </p:nvSpPr>
        <p:spPr>
          <a:xfrm>
            <a:off x="762000" y="1368177"/>
            <a:ext cx="2455366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45" name="Text 5"/>
          <p:cNvSpPr/>
          <p:nvPr/>
        </p:nvSpPr>
        <p:spPr>
          <a:xfrm>
            <a:off x="939701" y="1514177"/>
            <a:ext cx="214196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MEMORY</a:t>
            </a:r>
            <a:endParaRPr lang="en-US" sz="900" dirty="0"/>
          </a:p>
        </p:txBody>
      </p:sp>
      <p:sp>
        <p:nvSpPr>
          <p:cNvPr id="46" name="Text 6"/>
          <p:cNvSpPr/>
          <p:nvPr/>
        </p:nvSpPr>
        <p:spPr>
          <a:xfrm>
            <a:off x="939701" y="1685627"/>
            <a:ext cx="214196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记住状态</a:t>
            </a:r>
            <a:endParaRPr lang="en-US" sz="1400" dirty="0"/>
          </a:p>
        </p:txBody>
      </p:sp>
      <p:sp>
        <p:nvSpPr>
          <p:cNvPr id="47" name="Text 7"/>
          <p:cNvSpPr/>
          <p:nvPr/>
        </p:nvSpPr>
        <p:spPr>
          <a:xfrm>
            <a:off x="939701" y="1996678"/>
            <a:ext cx="2141964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跨会话持久。团队纪律、环境连接串、决策历史</a:t>
            </a:r>
            <a:endParaRPr lang="en-US" sz="1000" dirty="0"/>
          </a:p>
        </p:txBody>
      </p:sp>
      <p:sp>
        <p:nvSpPr>
          <p:cNvPr id="48" name="Text 8"/>
          <p:cNvSpPr/>
          <p:nvPr/>
        </p:nvSpPr>
        <p:spPr>
          <a:xfrm>
            <a:off x="3344317" y="1349127"/>
            <a:ext cx="2455366" cy="112990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9"/>
          <p:cNvSpPr/>
          <p:nvPr/>
        </p:nvSpPr>
        <p:spPr>
          <a:xfrm>
            <a:off x="3344317" y="1368177"/>
            <a:ext cx="2455366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50" name="Text 10"/>
          <p:cNvSpPr/>
          <p:nvPr/>
        </p:nvSpPr>
        <p:spPr>
          <a:xfrm>
            <a:off x="3522018" y="1514177"/>
            <a:ext cx="214196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SUB-AGENT</a:t>
            </a:r>
            <a:endParaRPr lang="en-US" sz="900" dirty="0"/>
          </a:p>
        </p:txBody>
      </p:sp>
      <p:sp>
        <p:nvSpPr>
          <p:cNvPr id="51" name="Text 11"/>
          <p:cNvSpPr/>
          <p:nvPr/>
        </p:nvSpPr>
        <p:spPr>
          <a:xfrm>
            <a:off x="3522018" y="1685627"/>
            <a:ext cx="214196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委派任务</a:t>
            </a:r>
            <a:endParaRPr lang="en-US" sz="1400" dirty="0"/>
          </a:p>
        </p:txBody>
      </p:sp>
      <p:sp>
        <p:nvSpPr>
          <p:cNvPr id="52" name="Text 12"/>
          <p:cNvSpPr/>
          <p:nvPr/>
        </p:nvSpPr>
        <p:spPr>
          <a:xfrm>
            <a:off x="3522018" y="1996678"/>
            <a:ext cx="2141964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独立上下文的专家。主 agent 只调度，子 agent 只深挖</a:t>
            </a:r>
            <a:endParaRPr lang="en-US" sz="1000" dirty="0"/>
          </a:p>
        </p:txBody>
      </p:sp>
      <p:sp>
        <p:nvSpPr>
          <p:cNvPr id="53" name="Text 13"/>
          <p:cNvSpPr/>
          <p:nvPr/>
        </p:nvSpPr>
        <p:spPr>
          <a:xfrm>
            <a:off x="5926634" y="1349127"/>
            <a:ext cx="2455366" cy="1129903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14"/>
          <p:cNvSpPr/>
          <p:nvPr/>
        </p:nvSpPr>
        <p:spPr>
          <a:xfrm>
            <a:off x="5926634" y="1368177"/>
            <a:ext cx="2455366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55" name="Text 15"/>
          <p:cNvSpPr/>
          <p:nvPr/>
        </p:nvSpPr>
        <p:spPr>
          <a:xfrm>
            <a:off x="6104334" y="1514177"/>
            <a:ext cx="2141964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SKILL</a:t>
            </a:r>
            <a:endParaRPr lang="en-US" sz="900" dirty="0"/>
          </a:p>
        </p:txBody>
      </p:sp>
      <p:sp>
        <p:nvSpPr>
          <p:cNvPr id="56" name="Text 16"/>
          <p:cNvSpPr/>
          <p:nvPr/>
        </p:nvSpPr>
        <p:spPr>
          <a:xfrm>
            <a:off x="6104334" y="1685627"/>
            <a:ext cx="214196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装载能力</a:t>
            </a:r>
            <a:endParaRPr lang="en-US" sz="1400" dirty="0"/>
          </a:p>
        </p:txBody>
      </p:sp>
      <p:sp>
        <p:nvSpPr>
          <p:cNvPr id="57" name="Text 17"/>
          <p:cNvSpPr/>
          <p:nvPr/>
        </p:nvSpPr>
        <p:spPr>
          <a:xfrm>
            <a:off x="6104334" y="1996678"/>
            <a:ext cx="2141964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BCA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一次性加载的"说明书 + 脚本包"。用完即走，不占持久空间</a:t>
            </a:r>
            <a:endParaRPr lang="en-US" sz="1000" dirty="0"/>
          </a:p>
        </p:txBody>
      </p:sp>
      <p:sp>
        <p:nvSpPr>
          <p:cNvPr id="58" name="Text 18"/>
          <p:cNvSpPr/>
          <p:nvPr/>
        </p:nvSpPr>
        <p:spPr>
          <a:xfrm>
            <a:off x="762000" y="2656731"/>
            <a:ext cx="7620000" cy="1183779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19"/>
          <p:cNvSpPr/>
          <p:nvPr/>
        </p:nvSpPr>
        <p:spPr>
          <a:xfrm>
            <a:off x="785813" y="2656731"/>
            <a:ext cx="0" cy="1183779"/>
          </a:xfrm>
          <a:prstGeom prst="line">
            <a:avLst/>
          </a:prstGeom>
          <a:noFill/>
          <a:ln w="47625">
            <a:solidFill>
              <a:srgbClr val="1E1B16"/>
            </a:solidFill>
            <a:prstDash val="solid"/>
          </a:ln>
        </p:spPr>
      </p:sp>
      <p:sp>
        <p:nvSpPr>
          <p:cNvPr id="60" name="Text 20"/>
          <p:cNvSpPr/>
          <p:nvPr/>
        </p:nvSpPr>
        <p:spPr>
          <a:xfrm>
            <a:off x="1038225" y="2809131"/>
            <a:ext cx="725747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PROGRESSIVE DISCLOSURE · 按描述触发三段加载</a:t>
            </a:r>
            <a:endParaRPr lang="en-US" sz="1000" dirty="0"/>
          </a:p>
        </p:txBody>
      </p:sp>
      <p:sp>
        <p:nvSpPr>
          <p:cNvPr id="61" name="Text 21"/>
          <p:cNvSpPr/>
          <p:nvPr/>
        </p:nvSpPr>
        <p:spPr>
          <a:xfrm>
            <a:off x="1038225" y="3066306"/>
            <a:ext cx="2100858" cy="62180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22"/>
          <p:cNvSpPr/>
          <p:nvPr/>
        </p:nvSpPr>
        <p:spPr>
          <a:xfrm>
            <a:off x="1057275" y="3066306"/>
            <a:ext cx="0" cy="621804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1203275" y="3142506"/>
            <a:ext cx="184503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· SENSE</a:t>
            </a:r>
            <a:endParaRPr lang="en-US" sz="800" dirty="0"/>
          </a:p>
        </p:txBody>
      </p:sp>
      <p:sp>
        <p:nvSpPr>
          <p:cNvPr id="64" name="Text 24"/>
          <p:cNvSpPr/>
          <p:nvPr/>
        </p:nvSpPr>
        <p:spPr>
          <a:xfrm>
            <a:off x="1203275" y="3282107"/>
            <a:ext cx="1845034" cy="329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匹配 skill 的 description 触发条件</a:t>
            </a:r>
            <a:endParaRPr lang="en-US" sz="1000" dirty="0"/>
          </a:p>
        </p:txBody>
      </p:sp>
      <p:sp>
        <p:nvSpPr>
          <p:cNvPr id="65" name="Text 25"/>
          <p:cNvSpPr/>
          <p:nvPr/>
        </p:nvSpPr>
        <p:spPr>
          <a:xfrm>
            <a:off x="3240584" y="325814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600" dirty="0"/>
          </a:p>
        </p:txBody>
      </p:sp>
      <p:sp>
        <p:nvSpPr>
          <p:cNvPr id="66" name="Text 26"/>
          <p:cNvSpPr/>
          <p:nvPr/>
        </p:nvSpPr>
        <p:spPr>
          <a:xfrm>
            <a:off x="3545384" y="3066306"/>
            <a:ext cx="2100858" cy="62180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27"/>
          <p:cNvSpPr/>
          <p:nvPr/>
        </p:nvSpPr>
        <p:spPr>
          <a:xfrm>
            <a:off x="3564434" y="3066306"/>
            <a:ext cx="0" cy="621804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68" name="Text 28"/>
          <p:cNvSpPr/>
          <p:nvPr/>
        </p:nvSpPr>
        <p:spPr>
          <a:xfrm>
            <a:off x="3710434" y="3142506"/>
            <a:ext cx="184503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· LOAD</a:t>
            </a:r>
            <a:endParaRPr lang="en-US" sz="800" dirty="0"/>
          </a:p>
        </p:txBody>
      </p:sp>
      <p:sp>
        <p:nvSpPr>
          <p:cNvPr id="69" name="Text 29"/>
          <p:cNvSpPr/>
          <p:nvPr/>
        </p:nvSpPr>
        <p:spPr>
          <a:xfrm>
            <a:off x="3710434" y="3282107"/>
            <a:ext cx="1845034" cy="329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 SKILL.md + 脚本路径注入主上下文</a:t>
            </a:r>
            <a:endParaRPr lang="en-US" sz="1000" dirty="0"/>
          </a:p>
        </p:txBody>
      </p:sp>
      <p:sp>
        <p:nvSpPr>
          <p:cNvPr id="70" name="Text 30"/>
          <p:cNvSpPr/>
          <p:nvPr/>
        </p:nvSpPr>
        <p:spPr>
          <a:xfrm>
            <a:off x="5747742" y="3258145"/>
            <a:ext cx="207365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600" dirty="0"/>
          </a:p>
        </p:txBody>
      </p:sp>
      <p:sp>
        <p:nvSpPr>
          <p:cNvPr id="71" name="Text 31"/>
          <p:cNvSpPr/>
          <p:nvPr/>
        </p:nvSpPr>
        <p:spPr>
          <a:xfrm>
            <a:off x="6052542" y="3066306"/>
            <a:ext cx="2100858" cy="621804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Shape 32"/>
          <p:cNvSpPr/>
          <p:nvPr/>
        </p:nvSpPr>
        <p:spPr>
          <a:xfrm>
            <a:off x="6071592" y="3066306"/>
            <a:ext cx="0" cy="621804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73" name="Text 33"/>
          <p:cNvSpPr/>
          <p:nvPr/>
        </p:nvSpPr>
        <p:spPr>
          <a:xfrm>
            <a:off x="6217593" y="3142506"/>
            <a:ext cx="1845034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· EXECUTE</a:t>
            </a:r>
            <a:endParaRPr lang="en-US" sz="800" dirty="0"/>
          </a:p>
        </p:txBody>
      </p:sp>
      <p:sp>
        <p:nvSpPr>
          <p:cNvPr id="74" name="Text 34"/>
          <p:cNvSpPr/>
          <p:nvPr/>
        </p:nvSpPr>
        <p:spPr>
          <a:xfrm>
            <a:off x="6217593" y="3282107"/>
            <a:ext cx="1845034" cy="329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 按流程走，调用 bundled 脚本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03.3 · SKILLS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444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这套 PPT 就是 Skill 造的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7302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最好的例子总是现场的那一个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25451"/>
            <a:ext cx="7620000" cy="838051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65150" y="1352401"/>
            <a:ext cx="735797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THIS SESSION · REAL INVOCATION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5150" y="1536502"/>
            <a:ext cx="735797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Skill(</a:t>
            </a:r>
            <a:r>
              <a:rPr lang="en-US" sz="10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document-skills:pptx</a:t>
            </a:r>
            <a:r>
              <a:rPr lang="en-US" sz="105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) → 加载 html2pptx.md + ooxml.md + scripts/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5150" y="1736527"/>
            <a:ext cx="7357973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 我按规范写 15 个 HTML slide → node build.js → </a:t>
            </a:r>
            <a:r>
              <a:rPr lang="en-US" sz="10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17 张 pptx 交付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2215902"/>
            <a:ext cx="3721150" cy="168800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62000" y="2234952"/>
            <a:ext cx="3721150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9701" y="2380952"/>
            <a:ext cx="343306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本次实际触发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39701" y="2619077"/>
            <a:ext cx="3365748" cy="755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document-skills:pptx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HTML→PPTX 工作流，带校验和 bundled 脚本</a:t>
            </a:r>
            <a:endParaRPr lang="en-US" sz="1000" dirty="0"/>
          </a:p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agent-teams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（team-spawn / SendMessage）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本次派 3 个 Explore 并行调研用的就是它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0850" y="2215902"/>
            <a:ext cx="3721150" cy="168800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0850" y="2234952"/>
            <a:ext cx="3721150" cy="0"/>
          </a:xfrm>
          <a:prstGeom prst="line">
            <a:avLst/>
          </a:prstGeom>
          <a:noFill/>
          <a:ln w="38100">
            <a:solidFill>
              <a:srgbClr val="8C7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8551" y="2380952"/>
            <a:ext cx="343306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项目常备 · 可按需触发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38551" y="2619077"/>
            <a:ext cx="3365748" cy="11071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coding-standards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TS/JS/React/Node 编码规范</a:t>
            </a:r>
            <a:endParaRPr lang="en-US" sz="1000" dirty="0"/>
          </a:p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security-review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OWASP 检查 + 鉴权/密钥流程</a:t>
            </a:r>
            <a:endParaRPr lang="en-US" sz="1000" dirty="0"/>
          </a:p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tdd-workflow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红绿重构 + 80% 覆盖率闸门</a:t>
            </a:r>
            <a:endParaRPr lang="en-US" sz="1000" dirty="0"/>
          </a:p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backend-patterns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Express/Next.js API 设计</a:t>
            </a:r>
            <a:endParaRPr lang="en-US" sz="1000" dirty="0"/>
          </a:p>
          <a:p>
            <a:pPr marL="0" indent="0" algn="l">
              <a:lnSpc>
                <a:spcPts val="1350"/>
              </a:lnSpc>
              <a:spcAft>
                <a:spcPts val="400"/>
              </a:spcAft>
              <a:buSzPct val="100000"/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architecture-analyzer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</a:t>
            </a:r>
            <a:r>
              <a:rPr lang="en-US" sz="900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— 基于第一性原理的架构诊断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2000" y="4056311"/>
            <a:ext cx="7620000" cy="627162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85813" y="4056311"/>
            <a:ext cx="0" cy="62716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8225" y="4183261"/>
            <a:ext cx="7257479" cy="3732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Skill 的价值：</a:t>
            </a: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不是"记住要用什么工具"，而是"当任务匹配时，工具自己来找我"。Memory 记的是 WHO / WHAT，Skill 管的是 HOW。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03.3 · SKILL LAYER · RALPH-LOOP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444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ralph-loop：质量闸门 + 续跑引擎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7302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本项目 30 次启动 · 12 次 cancel · 60% 自收敛 — 真正被当主力的 skill 就这一个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50752"/>
            <a:ext cx="7620000" cy="1213396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1250752"/>
            <a:ext cx="0" cy="1213396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326" y="1377702"/>
            <a:ext cx="7361313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EXECUTION LOOP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326" y="1587252"/>
            <a:ext cx="1594693" cy="749945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88827" y="1663452"/>
            <a:ext cx="141952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01 · START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8827" y="1803053"/>
            <a:ext cx="1419526" cy="1522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 promise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88827" y="1980605"/>
            <a:ext cx="1419526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 state 文件 · iteration / max / completion_promise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32770" y="1857375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61370" y="1587252"/>
            <a:ext cx="1594693" cy="749945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62870" y="1663452"/>
            <a:ext cx="141952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02 · RUN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962870" y="1803053"/>
            <a:ext cx="1419526" cy="1522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跑一轮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62870" y="1980605"/>
            <a:ext cx="1419526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 prompt 干活 · 结束时试图退出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06813" y="1857375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5413" y="1587252"/>
            <a:ext cx="1594693" cy="749945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6914" y="1663452"/>
            <a:ext cx="141952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03 · HOOK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36914" y="1803053"/>
            <a:ext cx="1419526" cy="1522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Stop hook 拦截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36914" y="1980605"/>
            <a:ext cx="1419526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读 transcript · perl 非贪婪抽 &lt;promise&gt; 标签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80857" y="1857375"/>
            <a:ext cx="181407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09457" y="1587252"/>
            <a:ext cx="1594693" cy="749945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710958" y="1663452"/>
            <a:ext cx="1419526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04 · JUDGE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710958" y="1803053"/>
            <a:ext cx="1419526" cy="1522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字面比对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10958" y="1980605"/>
            <a:ext cx="1419526" cy="2803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相等 → 放行收工 · 不等 → block + 注入下轮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62000" y="2616547"/>
            <a:ext cx="7620000" cy="1479649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5150" y="2743498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KEY TRICK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5150" y="2954238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$ /ralph-loop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--max-iterations 20 --completion-promise "error code 跨 4 语言统一"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5150" y="3157240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↓ 写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.claude/ralph-loop.local.md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（YAML frontmatter + prompt 正文）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5150" y="3360241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↓ AI 每轮结束输出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&lt;promise&gt;…&lt;/promise&gt;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标签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5150" y="3563243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↓ hook 用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perl 非贪婪匹配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抽标签内容 = completion_promise？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5150" y="3766245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↓ 不等：jq 输出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{"decision":"block","reason":&lt;prompt&gt;}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注入下轮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2000" y="4223147"/>
            <a:ext cx="7620000" cy="558403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85813" y="4223147"/>
            <a:ext cx="0" cy="558403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2775" y="4324648"/>
            <a:ext cx="7309396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为什么是质量闸门：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completion-promise = 你定义的"什么才算做完"。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自己觉得完了没用，promise 字面对上才算完。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人不在场、质量标准不妥协。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03.3.1 · HOOKS · AUTOMATED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444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Hook：让纪律不靠 AI 自觉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7302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可能忘，但 hook 不会 — 这是质量的最后一道闸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25451"/>
            <a:ext cx="2455366" cy="19655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1244501"/>
            <a:ext cx="2455366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390501"/>
            <a:ext cx="219357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BEFORE TOOL CALL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530102"/>
            <a:ext cx="219357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PreToolUse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806327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tmux reminder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952327"/>
            <a:ext cx="2193578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npm / mvn 等长命令建议走 tmux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2156371"/>
            <a:ext cx="2150566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11884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git push review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2357884"/>
            <a:ext cx="2193578" cy="149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push 前</a:t>
            </a: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打开 Zed 让人再看一眼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563118"/>
            <a:ext cx="2150566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18631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doc blocker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764631"/>
            <a:ext cx="2193578" cy="149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拦截未授权的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.md / .txt</a:t>
            </a: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创建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44317" y="1225451"/>
            <a:ext cx="2455366" cy="19655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44317" y="1244501"/>
            <a:ext cx="2455366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6717" y="1390501"/>
            <a:ext cx="219357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AFTER TOOL CALL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96717" y="1530102"/>
            <a:ext cx="219357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PostToolUse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96717" y="1806327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Prettier auto-format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6717" y="1952327"/>
            <a:ext cx="2193578" cy="149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TS/JS 编辑后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自动格式化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6717" y="2157561"/>
            <a:ext cx="2150566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6717" y="2213074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tsc type check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96717" y="2359075"/>
            <a:ext cx="2193578" cy="149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.ts/.tsx 编辑后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跑类型检查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96717" y="2564309"/>
            <a:ext cx="2150566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6717" y="2619821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console.log warn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96717" y="2765822"/>
            <a:ext cx="2193578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检测到 console.log 立刻告警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26634" y="1225451"/>
            <a:ext cx="2455366" cy="19655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926634" y="1244501"/>
            <a:ext cx="2455366" cy="0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9034" y="1390501"/>
            <a:ext cx="2193578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WHEN SESSION ENDS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79034" y="1530102"/>
            <a:ext cx="2193578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Stop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79034" y="1806327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console.log audit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79034" y="1952327"/>
            <a:ext cx="2193578" cy="2994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会话结束扫全部改动 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是否遗漏 debug 语句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79034" y="2307282"/>
            <a:ext cx="2150566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9034" y="2362795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ralph-loop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79034" y="2508796"/>
            <a:ext cx="2193578" cy="1497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promise 未满足则</a:t>
            </a: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阻止退出 · 注入下轮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79034" y="2714030"/>
            <a:ext cx="2150566" cy="0"/>
          </a:xfrm>
          <a:prstGeom prst="line">
            <a:avLst/>
          </a:prstGeom>
          <a:noFill/>
          <a:ln w="9525">
            <a:solidFill>
              <a:srgbClr val="E0D6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9034" y="2769543"/>
            <a:ext cx="2193578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context save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79034" y="2915543"/>
            <a:ext cx="2193578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session 摘要落盘，下次恢复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2000" y="3317974"/>
            <a:ext cx="7620000" cy="1073646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65150" y="3444925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REAL EXAMPLE · HOOK 怎么写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65150" y="3655665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~/.claude/settings.json → hooks → PostToolUse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65150" y="3858667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match: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"Edit|Write"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+ filePath: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"**/*.{ts,tsx}"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5150" y="4061668"/>
            <a:ext cx="7357973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command: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"prettier --write $CLAUDE_FILE_PATHS"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2000" y="4518571"/>
            <a:ext cx="7620000" cy="355402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785813" y="4518571"/>
            <a:ext cx="0" cy="35540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2775" y="4607421"/>
            <a:ext cx="7309396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：memory 是"告诉 AI 什么是对的"，hook 是"即使 AI 忘了，也拦住"。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两层兜底，质量才稳。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762000" y="1777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03.3.2 · HOOKS · REAL CONFIG</a:t>
            </a:r>
            <a:endParaRPr lang="en-US" sz="1100" dirty="0"/>
          </a:p>
        </p:txBody>
      </p:sp>
      <p:sp>
        <p:nvSpPr>
          <p:cNvPr id="50" name="Text 1"/>
          <p:cNvSpPr/>
          <p:nvPr/>
        </p:nvSpPr>
        <p:spPr>
          <a:xfrm>
            <a:off x="762000" y="3682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Hook 怎么写：本机 settings.json 真实片段</a:t>
            </a:r>
            <a:endParaRPr lang="en-US" sz="2200" dirty="0"/>
          </a:p>
        </p:txBody>
      </p:sp>
      <p:sp>
        <p:nvSpPr>
          <p:cNvPr id="51" name="Text 2"/>
          <p:cNvSpPr/>
          <p:nvPr/>
        </p:nvSpPr>
        <p:spPr>
          <a:xfrm>
            <a:off x="762000" y="79682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下面每一行都是从 ~/.claude/settings.json 原样抠出来的</a:t>
            </a:r>
            <a:endParaRPr lang="en-US" sz="1100" dirty="0"/>
          </a:p>
        </p:txBody>
      </p:sp>
      <p:sp>
        <p:nvSpPr>
          <p:cNvPr id="52" name="Text 3"/>
          <p:cNvSpPr/>
          <p:nvPr/>
        </p:nvSpPr>
        <p:spPr>
          <a:xfrm>
            <a:off x="762000" y="1098352"/>
            <a:ext cx="7620000" cy="263426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4"/>
          <p:cNvSpPr/>
          <p:nvPr/>
        </p:nvSpPr>
        <p:spPr>
          <a:xfrm>
            <a:off x="785813" y="1098352"/>
            <a:ext cx="0" cy="263426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54" name="Text 5"/>
          <p:cNvSpPr/>
          <p:nvPr/>
        </p:nvSpPr>
        <p:spPr>
          <a:xfrm>
            <a:off x="987326" y="1149102"/>
            <a:ext cx="736131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FILE</a:t>
            </a:r>
            <a:r>
              <a:rPr lang="en-US" sz="95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· ~/.claude/settings.json · 用户级（项目级放 </a:t>
            </a:r>
            <a:r>
              <a:rPr lang="en-US" sz="9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.claude/settings.local.json</a:t>
            </a:r>
            <a:r>
              <a:rPr lang="en-US" sz="95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）</a:t>
            </a:r>
            <a:endParaRPr lang="en-US" sz="950" dirty="0"/>
          </a:p>
        </p:txBody>
      </p:sp>
      <p:sp>
        <p:nvSpPr>
          <p:cNvPr id="55" name="Text 6"/>
          <p:cNvSpPr/>
          <p:nvPr/>
        </p:nvSpPr>
        <p:spPr>
          <a:xfrm>
            <a:off x="762000" y="1437977"/>
            <a:ext cx="4674096" cy="3059013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7"/>
          <p:cNvSpPr/>
          <p:nvPr/>
        </p:nvSpPr>
        <p:spPr>
          <a:xfrm>
            <a:off x="914400" y="1539478"/>
            <a:ext cx="4456682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REAL · "hooks" { ... } VERBATIM</a:t>
            </a:r>
            <a:endParaRPr lang="en-US" sz="850" dirty="0"/>
          </a:p>
        </p:txBody>
      </p:sp>
      <p:sp>
        <p:nvSpPr>
          <p:cNvPr id="57" name="Text 8"/>
          <p:cNvSpPr/>
          <p:nvPr/>
        </p:nvSpPr>
        <p:spPr>
          <a:xfrm>
            <a:off x="914400" y="1704529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"PostToolUse"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[</a:t>
            </a:r>
            <a:endParaRPr lang="en-US" sz="700" dirty="0"/>
          </a:p>
        </p:txBody>
      </p:sp>
      <p:sp>
        <p:nvSpPr>
          <p:cNvPr id="58" name="Text 9"/>
          <p:cNvSpPr/>
          <p:nvPr/>
        </p:nvSpPr>
        <p:spPr>
          <a:xfrm>
            <a:off x="914400" y="1806625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①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Prettier · TS/JS 改完自动格式化</a:t>
            </a:r>
            <a:endParaRPr lang="en-US" sz="700" dirty="0"/>
          </a:p>
        </p:txBody>
      </p:sp>
      <p:sp>
        <p:nvSpPr>
          <p:cNvPr id="59" name="Text 10"/>
          <p:cNvSpPr/>
          <p:nvPr/>
        </p:nvSpPr>
        <p:spPr>
          <a:xfrm>
            <a:off x="914400" y="1908721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{ </a:t>
            </a: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"matcher"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"tool == \"Edit\" &amp;&amp;</a:t>
            </a:r>
            <a:endParaRPr lang="en-US" sz="700" dirty="0"/>
          </a:p>
        </p:txBody>
      </p:sp>
      <p:sp>
        <p:nvSpPr>
          <p:cNvPr id="60" name="Text 11"/>
          <p:cNvSpPr/>
          <p:nvPr/>
        </p:nvSpPr>
        <p:spPr>
          <a:xfrm>
            <a:off x="914400" y="2010817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tool_input.file_path matches \"\\.(ts|tsx|js|jsx)$\"",</a:t>
            </a:r>
            <a:endParaRPr lang="en-US" sz="700" dirty="0"/>
          </a:p>
        </p:txBody>
      </p:sp>
      <p:sp>
        <p:nvSpPr>
          <p:cNvPr id="61" name="Text 12"/>
          <p:cNvSpPr/>
          <p:nvPr/>
        </p:nvSpPr>
        <p:spPr>
          <a:xfrm>
            <a:off x="914400" y="2112913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"hooks": [{ "type": "command",</a:t>
            </a:r>
            <a:endParaRPr lang="en-US" sz="700" dirty="0"/>
          </a:p>
        </p:txBody>
      </p:sp>
      <p:sp>
        <p:nvSpPr>
          <p:cNvPr id="62" name="Text 13"/>
          <p:cNvSpPr/>
          <p:nvPr/>
        </p:nvSpPr>
        <p:spPr>
          <a:xfrm>
            <a:off x="914400" y="2215009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"command": </a:t>
            </a: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"node -e ...prettier..."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}] },</a:t>
            </a:r>
            <a:endParaRPr lang="en-US" sz="700" dirty="0"/>
          </a:p>
        </p:txBody>
      </p:sp>
      <p:sp>
        <p:nvSpPr>
          <p:cNvPr id="63" name="Text 14"/>
          <p:cNvSpPr/>
          <p:nvPr/>
        </p:nvSpPr>
        <p:spPr>
          <a:xfrm>
            <a:off x="914400" y="2317105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②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9 语言源文件改动 → 触发安全</a:t>
            </a:r>
            <a:r>
              <a:rPr lang="zh-CN" alt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扫描</a:t>
            </a:r>
            <a:endParaRPr lang="zh-CN" altLang="en-US" sz="700" dirty="0">
              <a:solidFill>
                <a:srgbClr val="7FB069"/>
              </a:solidFill>
              <a:latin typeface="Courier New" panose="02070409020205090404" pitchFamily="34" charset="0"/>
              <a:ea typeface="Courier New" panose="02070409020205090404" pitchFamily="34" charset="-122"/>
              <a:cs typeface="Courier New" panose="02070409020205090404" pitchFamily="34" charset="-120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914400" y="2419201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{ </a:t>
            </a: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"matcher"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"tool == \"Edit\" &amp;&amp;</a:t>
            </a:r>
            <a:endParaRPr lang="en-US" sz="700" dirty="0"/>
          </a:p>
        </p:txBody>
      </p:sp>
      <p:sp>
        <p:nvSpPr>
          <p:cNvPr id="65" name="Text 16"/>
          <p:cNvSpPr/>
          <p:nvPr/>
        </p:nvSpPr>
        <p:spPr>
          <a:xfrm>
            <a:off x="914400" y="2521297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file_path matches \"\\.(ts|tsx|js|jsx|py|go|java|cpp|c|rs)$\"",</a:t>
            </a:r>
            <a:endParaRPr lang="en-US" sz="700" dirty="0"/>
          </a:p>
        </p:txBody>
      </p:sp>
      <p:sp>
        <p:nvSpPr>
          <p:cNvPr id="66" name="Text 17"/>
          <p:cNvSpPr/>
          <p:nvPr/>
        </p:nvSpPr>
        <p:spPr>
          <a:xfrm>
            <a:off x="914400" y="2623393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"hooks": [{ "command":</a:t>
            </a:r>
            <a:endParaRPr lang="en-US" sz="700" dirty="0"/>
          </a:p>
        </p:txBody>
      </p:sp>
      <p:sp>
        <p:nvSpPr>
          <p:cNvPr id="67" name="Text 18"/>
          <p:cNvSpPr/>
          <p:nvPr/>
        </p:nvSpPr>
        <p:spPr>
          <a:xfrm>
            <a:off x="914400" y="2725489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"node .../hooks/auto-security-check.js"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}] },</a:t>
            </a:r>
            <a:endParaRPr lang="en-US" sz="700" dirty="0"/>
          </a:p>
        </p:txBody>
      </p:sp>
      <p:sp>
        <p:nvSpPr>
          <p:cNvPr id="68" name="Text 19"/>
          <p:cNvSpPr/>
          <p:nvPr/>
        </p:nvSpPr>
        <p:spPr>
          <a:xfrm>
            <a:off x="914400" y="2827586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③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包管理命令执行后 → build-fix 兜底</a:t>
            </a:r>
            <a:endParaRPr lang="en-US" sz="700" dirty="0"/>
          </a:p>
        </p:txBody>
      </p:sp>
      <p:sp>
        <p:nvSpPr>
          <p:cNvPr id="69" name="Text 20"/>
          <p:cNvSpPr/>
          <p:nvPr/>
        </p:nvSpPr>
        <p:spPr>
          <a:xfrm>
            <a:off x="914400" y="2929682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{ </a:t>
            </a: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"matcher"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"tool == \"Bash\" &amp;&amp;</a:t>
            </a:r>
            <a:endParaRPr lang="en-US" sz="700" dirty="0"/>
          </a:p>
        </p:txBody>
      </p:sp>
      <p:sp>
        <p:nvSpPr>
          <p:cNvPr id="70" name="Text 21"/>
          <p:cNvSpPr/>
          <p:nvPr/>
        </p:nvSpPr>
        <p:spPr>
          <a:xfrm>
            <a:off x="914400" y="3031778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tool_input.command matches \"(npm|yarn|pnpm|uv|pip|cargo|go build)\"",</a:t>
            </a:r>
            <a:endParaRPr lang="en-US" sz="700" dirty="0"/>
          </a:p>
        </p:txBody>
      </p:sp>
      <p:sp>
        <p:nvSpPr>
          <p:cNvPr id="71" name="Text 22"/>
          <p:cNvSpPr/>
          <p:nvPr/>
        </p:nvSpPr>
        <p:spPr>
          <a:xfrm>
            <a:off x="914400" y="3133874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"hooks": [{ "command":</a:t>
            </a:r>
            <a:endParaRPr lang="en-US" sz="700" dirty="0"/>
          </a:p>
        </p:txBody>
      </p:sp>
      <p:sp>
        <p:nvSpPr>
          <p:cNvPr id="72" name="Text 23"/>
          <p:cNvSpPr/>
          <p:nvPr/>
        </p:nvSpPr>
        <p:spPr>
          <a:xfrm>
            <a:off x="914400" y="3235970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"node .../hooks/auto-build-fix.js"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}] },</a:t>
            </a:r>
            <a:endParaRPr lang="en-US" sz="700" dirty="0"/>
          </a:p>
        </p:txBody>
      </p:sp>
      <p:sp>
        <p:nvSpPr>
          <p:cNvPr id="73" name="Text 24"/>
          <p:cNvSpPr/>
          <p:nvPr/>
        </p:nvSpPr>
        <p:spPr>
          <a:xfrm>
            <a:off x="914400" y="3338066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④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SQL / DDL 文件改动 → DB review</a:t>
            </a:r>
            <a:endParaRPr lang="en-US" sz="700" dirty="0"/>
          </a:p>
        </p:txBody>
      </p:sp>
      <p:sp>
        <p:nvSpPr>
          <p:cNvPr id="74" name="Text 25"/>
          <p:cNvSpPr/>
          <p:nvPr/>
        </p:nvSpPr>
        <p:spPr>
          <a:xfrm>
            <a:off x="914400" y="3440162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{ </a:t>
            </a: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"matcher"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"tool == \"Edit\" &amp;&amp;</a:t>
            </a:r>
            <a:endParaRPr lang="en-US" sz="700" dirty="0"/>
          </a:p>
        </p:txBody>
      </p:sp>
      <p:sp>
        <p:nvSpPr>
          <p:cNvPr id="75" name="Text 26"/>
          <p:cNvSpPr/>
          <p:nvPr/>
        </p:nvSpPr>
        <p:spPr>
          <a:xfrm>
            <a:off x="914400" y="3542258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file_path matches \"\\.(sql|ddl)$\"",</a:t>
            </a:r>
            <a:endParaRPr lang="en-US" sz="700" dirty="0"/>
          </a:p>
        </p:txBody>
      </p:sp>
      <p:sp>
        <p:nvSpPr>
          <p:cNvPr id="76" name="Text 27"/>
          <p:cNvSpPr/>
          <p:nvPr/>
        </p:nvSpPr>
        <p:spPr>
          <a:xfrm>
            <a:off x="914400" y="3644354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"hooks": [{ "command":</a:t>
            </a:r>
            <a:endParaRPr lang="en-US" sz="700" dirty="0"/>
          </a:p>
        </p:txBody>
      </p:sp>
      <p:sp>
        <p:nvSpPr>
          <p:cNvPr id="77" name="Text 28"/>
          <p:cNvSpPr/>
          <p:nvPr/>
        </p:nvSpPr>
        <p:spPr>
          <a:xfrm>
            <a:off x="914400" y="3746450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"node .../hooks/auto-db-review.js"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}] }</a:t>
            </a:r>
            <a:endParaRPr lang="en-US" sz="700" dirty="0"/>
          </a:p>
        </p:txBody>
      </p:sp>
      <p:sp>
        <p:nvSpPr>
          <p:cNvPr id="78" name="Text 29"/>
          <p:cNvSpPr/>
          <p:nvPr/>
        </p:nvSpPr>
        <p:spPr>
          <a:xfrm>
            <a:off x="914400" y="3848546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],</a:t>
            </a:r>
            <a:endParaRPr lang="en-US" sz="700" dirty="0"/>
          </a:p>
        </p:txBody>
      </p:sp>
      <p:sp>
        <p:nvSpPr>
          <p:cNvPr id="79" name="Text 30"/>
          <p:cNvSpPr/>
          <p:nvPr/>
        </p:nvSpPr>
        <p:spPr>
          <a:xfrm>
            <a:off x="914400" y="3950643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A8D08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// ⑤</a:t>
            </a:r>
            <a:r>
              <a:rPr lang="en-US" sz="700" dirty="0">
                <a:solidFill>
                  <a:srgbClr val="7FB06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会话结束 → 扫 debug 语句遗漏</a:t>
            </a:r>
            <a:endParaRPr lang="en-US" sz="700" dirty="0"/>
          </a:p>
        </p:txBody>
      </p:sp>
      <p:sp>
        <p:nvSpPr>
          <p:cNvPr id="80" name="Text 31"/>
          <p:cNvSpPr/>
          <p:nvPr/>
        </p:nvSpPr>
        <p:spPr>
          <a:xfrm>
            <a:off x="914400" y="4052739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"Stop"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: [{ "matcher": "*",</a:t>
            </a:r>
            <a:endParaRPr lang="en-US" sz="700" dirty="0"/>
          </a:p>
        </p:txBody>
      </p:sp>
      <p:sp>
        <p:nvSpPr>
          <p:cNvPr id="81" name="Text 32"/>
          <p:cNvSpPr/>
          <p:nvPr/>
        </p:nvSpPr>
        <p:spPr>
          <a:xfrm>
            <a:off x="914400" y="4154835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"hooks": [{ "command":</a:t>
            </a:r>
            <a:endParaRPr lang="en-US" sz="700" dirty="0"/>
          </a:p>
        </p:txBody>
      </p:sp>
      <p:sp>
        <p:nvSpPr>
          <p:cNvPr id="82" name="Text 33"/>
          <p:cNvSpPr/>
          <p:nvPr/>
        </p:nvSpPr>
        <p:spPr>
          <a:xfrm>
            <a:off x="914400" y="4256931"/>
            <a:ext cx="4456682" cy="10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5"/>
              </a:lnSpc>
              <a:buNone/>
            </a:pPr>
            <a:r>
              <a:rPr lang="en-US" sz="700" dirty="0">
                <a:solidFill>
                  <a:srgbClr val="E6A07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"node .../hooks/check-console-log.js"</a:t>
            </a:r>
            <a:r>
              <a:rPr lang="en-US" sz="7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}] }]</a:t>
            </a:r>
            <a:endParaRPr lang="en-US" sz="700" dirty="0"/>
          </a:p>
        </p:txBody>
      </p:sp>
      <p:sp>
        <p:nvSpPr>
          <p:cNvPr id="83" name="Text 34"/>
          <p:cNvSpPr/>
          <p:nvPr/>
        </p:nvSpPr>
        <p:spPr>
          <a:xfrm>
            <a:off x="5563046" y="1437977"/>
            <a:ext cx="2818954" cy="58132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Shape 35"/>
          <p:cNvSpPr/>
          <p:nvPr/>
        </p:nvSpPr>
        <p:spPr>
          <a:xfrm>
            <a:off x="5582096" y="1437977"/>
            <a:ext cx="0" cy="58132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85" name="Text 36"/>
          <p:cNvSpPr/>
          <p:nvPr/>
        </p:nvSpPr>
        <p:spPr>
          <a:xfrm>
            <a:off x="5728097" y="1488728"/>
            <a:ext cx="257749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① POSTTOOLUSE · PRETTIER</a:t>
            </a:r>
            <a:endParaRPr lang="en-US" sz="750" dirty="0"/>
          </a:p>
        </p:txBody>
      </p:sp>
      <p:sp>
        <p:nvSpPr>
          <p:cNvPr id="86" name="Text 37"/>
          <p:cNvSpPr/>
          <p:nvPr/>
        </p:nvSpPr>
        <p:spPr>
          <a:xfrm>
            <a:off x="5728097" y="1634728"/>
            <a:ext cx="257749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TS/JS 改完自动格式化</a:t>
            </a:r>
            <a:endParaRPr lang="en-US" sz="1000" dirty="0"/>
          </a:p>
        </p:txBody>
      </p:sp>
      <p:sp>
        <p:nvSpPr>
          <p:cNvPr id="87" name="Text 38"/>
          <p:cNvSpPr/>
          <p:nvPr/>
        </p:nvSpPr>
        <p:spPr>
          <a:xfrm>
            <a:off x="5728097" y="1828354"/>
            <a:ext cx="2577492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</a:t>
            </a: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：风格偏移 review 时吵最多 · 交 hook 零争议</a:t>
            </a:r>
            <a:endParaRPr lang="en-US" sz="850" dirty="0"/>
          </a:p>
        </p:txBody>
      </p:sp>
      <p:sp>
        <p:nvSpPr>
          <p:cNvPr id="88" name="Text 39"/>
          <p:cNvSpPr/>
          <p:nvPr/>
        </p:nvSpPr>
        <p:spPr>
          <a:xfrm>
            <a:off x="5563046" y="2057400"/>
            <a:ext cx="2818954" cy="58132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Shape 40"/>
          <p:cNvSpPr/>
          <p:nvPr/>
        </p:nvSpPr>
        <p:spPr>
          <a:xfrm>
            <a:off x="5582096" y="2057400"/>
            <a:ext cx="0" cy="58132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90" name="Text 41"/>
          <p:cNvSpPr/>
          <p:nvPr/>
        </p:nvSpPr>
        <p:spPr>
          <a:xfrm>
            <a:off x="5728097" y="2108150"/>
            <a:ext cx="257749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② POSTTOOLUSE · AUTO-SECURITY</a:t>
            </a:r>
            <a:endParaRPr lang="en-US" sz="750" dirty="0"/>
          </a:p>
        </p:txBody>
      </p:sp>
      <p:sp>
        <p:nvSpPr>
          <p:cNvPr id="91" name="Text 42"/>
          <p:cNvSpPr/>
          <p:nvPr/>
        </p:nvSpPr>
        <p:spPr>
          <a:xfrm>
            <a:off x="5728097" y="2254151"/>
            <a:ext cx="257749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 种语言源文件触发安全扫</a:t>
            </a:r>
            <a:endParaRPr lang="en-US" sz="1000" dirty="0"/>
          </a:p>
        </p:txBody>
      </p:sp>
      <p:sp>
        <p:nvSpPr>
          <p:cNvPr id="92" name="Text 43"/>
          <p:cNvSpPr/>
          <p:nvPr/>
        </p:nvSpPr>
        <p:spPr>
          <a:xfrm>
            <a:off x="5728097" y="2447776"/>
            <a:ext cx="2577492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</a:t>
            </a: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：密钥 / SQL 注入别等 commit · 写完就查</a:t>
            </a:r>
            <a:endParaRPr lang="en-US" sz="850" dirty="0"/>
          </a:p>
        </p:txBody>
      </p:sp>
      <p:sp>
        <p:nvSpPr>
          <p:cNvPr id="93" name="Text 44"/>
          <p:cNvSpPr/>
          <p:nvPr/>
        </p:nvSpPr>
        <p:spPr>
          <a:xfrm>
            <a:off x="5563046" y="2676823"/>
            <a:ext cx="2818954" cy="58132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4" name="Shape 45"/>
          <p:cNvSpPr/>
          <p:nvPr/>
        </p:nvSpPr>
        <p:spPr>
          <a:xfrm>
            <a:off x="5582096" y="2676823"/>
            <a:ext cx="0" cy="58132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95" name="Text 46"/>
          <p:cNvSpPr/>
          <p:nvPr/>
        </p:nvSpPr>
        <p:spPr>
          <a:xfrm>
            <a:off x="5728097" y="2727573"/>
            <a:ext cx="257749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③ POSTTOOLUSE · AUTO-BUILD-FIX</a:t>
            </a:r>
            <a:endParaRPr lang="en-US" sz="750" dirty="0"/>
          </a:p>
        </p:txBody>
      </p:sp>
      <p:sp>
        <p:nvSpPr>
          <p:cNvPr id="96" name="Text 47"/>
          <p:cNvSpPr/>
          <p:nvPr/>
        </p:nvSpPr>
        <p:spPr>
          <a:xfrm>
            <a:off x="5728097" y="2873573"/>
            <a:ext cx="257749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包管理命令后 build-fix 兜底</a:t>
            </a:r>
            <a:endParaRPr lang="en-US" sz="1000" dirty="0"/>
          </a:p>
        </p:txBody>
      </p:sp>
      <p:sp>
        <p:nvSpPr>
          <p:cNvPr id="97" name="Text 48"/>
          <p:cNvSpPr/>
          <p:nvPr/>
        </p:nvSpPr>
        <p:spPr>
          <a:xfrm>
            <a:off x="5728097" y="3067199"/>
            <a:ext cx="2577492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</a:t>
            </a: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：依赖变化 → 类型错 / 破坏性升级 自动挂修</a:t>
            </a:r>
            <a:endParaRPr lang="en-US" sz="850" dirty="0"/>
          </a:p>
        </p:txBody>
      </p:sp>
      <p:sp>
        <p:nvSpPr>
          <p:cNvPr id="98" name="Text 49"/>
          <p:cNvSpPr/>
          <p:nvPr/>
        </p:nvSpPr>
        <p:spPr>
          <a:xfrm>
            <a:off x="5563046" y="3296245"/>
            <a:ext cx="2818954" cy="58132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Shape 50"/>
          <p:cNvSpPr/>
          <p:nvPr/>
        </p:nvSpPr>
        <p:spPr>
          <a:xfrm>
            <a:off x="5582096" y="3296245"/>
            <a:ext cx="0" cy="58132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00" name="Text 51"/>
          <p:cNvSpPr/>
          <p:nvPr/>
        </p:nvSpPr>
        <p:spPr>
          <a:xfrm>
            <a:off x="5728097" y="3346996"/>
            <a:ext cx="257749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④ POSTTOOLUSE · AUTO-DB-REVIEW</a:t>
            </a:r>
            <a:endParaRPr lang="en-US" sz="750" dirty="0"/>
          </a:p>
        </p:txBody>
      </p:sp>
      <p:sp>
        <p:nvSpPr>
          <p:cNvPr id="101" name="Text 52"/>
          <p:cNvSpPr/>
          <p:nvPr/>
        </p:nvSpPr>
        <p:spPr>
          <a:xfrm>
            <a:off x="5728097" y="3492996"/>
            <a:ext cx="257749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SQL / DDL 文件改动触发 DB review</a:t>
            </a:r>
            <a:endParaRPr lang="en-US" sz="1000" dirty="0"/>
          </a:p>
        </p:txBody>
      </p:sp>
      <p:sp>
        <p:nvSpPr>
          <p:cNvPr id="102" name="Text 53"/>
          <p:cNvSpPr/>
          <p:nvPr/>
        </p:nvSpPr>
        <p:spPr>
          <a:xfrm>
            <a:off x="5728097" y="3686621"/>
            <a:ext cx="2577492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</a:t>
            </a: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：schema 改动风险最高 · 每次都走一遍</a:t>
            </a:r>
            <a:endParaRPr lang="en-US" sz="850" dirty="0"/>
          </a:p>
        </p:txBody>
      </p:sp>
      <p:sp>
        <p:nvSpPr>
          <p:cNvPr id="103" name="Text 54"/>
          <p:cNvSpPr/>
          <p:nvPr/>
        </p:nvSpPr>
        <p:spPr>
          <a:xfrm>
            <a:off x="5563046" y="3915668"/>
            <a:ext cx="2818954" cy="58132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4" name="Shape 55"/>
          <p:cNvSpPr/>
          <p:nvPr/>
        </p:nvSpPr>
        <p:spPr>
          <a:xfrm>
            <a:off x="5582096" y="3915668"/>
            <a:ext cx="0" cy="58132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05" name="Text 56"/>
          <p:cNvSpPr/>
          <p:nvPr/>
        </p:nvSpPr>
        <p:spPr>
          <a:xfrm>
            <a:off x="5728097" y="3966418"/>
            <a:ext cx="2577492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⑤ STOP · CHECK-CONSOLE-LOG</a:t>
            </a:r>
            <a:endParaRPr lang="en-US" sz="750" dirty="0"/>
          </a:p>
        </p:txBody>
      </p:sp>
      <p:sp>
        <p:nvSpPr>
          <p:cNvPr id="106" name="Text 57"/>
          <p:cNvSpPr/>
          <p:nvPr/>
        </p:nvSpPr>
        <p:spPr>
          <a:xfrm>
            <a:off x="5728097" y="4112419"/>
            <a:ext cx="257749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会话结束扫 debug 语句遗漏</a:t>
            </a:r>
            <a:endParaRPr lang="en-US" sz="1000" dirty="0"/>
          </a:p>
        </p:txBody>
      </p:sp>
      <p:sp>
        <p:nvSpPr>
          <p:cNvPr id="107" name="Text 58"/>
          <p:cNvSpPr/>
          <p:nvPr/>
        </p:nvSpPr>
        <p:spPr>
          <a:xfrm>
            <a:off x="5728097" y="4306044"/>
            <a:ext cx="2577492" cy="1401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8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Why</a:t>
            </a:r>
            <a:r>
              <a:rPr lang="en-US" sz="85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：AI 有时忘删 · hook 是最后一关</a:t>
            </a:r>
            <a:endParaRPr lang="en-US" sz="850" dirty="0"/>
          </a:p>
        </p:txBody>
      </p:sp>
      <p:sp>
        <p:nvSpPr>
          <p:cNvPr id="108" name="Text 59"/>
          <p:cNvSpPr/>
          <p:nvPr/>
        </p:nvSpPr>
        <p:spPr>
          <a:xfrm>
            <a:off x="762000" y="4573191"/>
            <a:ext cx="7620000" cy="464641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9" name="Text 60"/>
          <p:cNvSpPr/>
          <p:nvPr/>
        </p:nvSpPr>
        <p:spPr>
          <a:xfrm>
            <a:off x="965150" y="4636591"/>
            <a:ext cx="7357973" cy="337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matcher 关键字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 == "Edit"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锁工具 ·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tool_input.file_path matches "正则"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锁文件 · </a:t>
            </a:r>
            <a:r>
              <a:rPr lang="en-US" sz="95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tool_input.command matches "模式"</a:t>
            </a:r>
            <a:r>
              <a:rPr lang="en-US" sz="95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锁 Bash。命令本身可以是 shell / node / python 脚本，stdin 里是完整 tool_input JSON。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7935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03.4 · CROSS-STACK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825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跨栈契约对齐：四套类型，一份真相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92377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Nacos 是配置真相源，AI 是契约对齐官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76201"/>
            <a:ext cx="7620000" cy="310455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1581894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9701" y="1359991"/>
            <a:ext cx="1424839" cy="133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FIELD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12802" y="135240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79800" y="135240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GO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46799" y="135240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PYTHON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13798" y="135240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1586657"/>
            <a:ext cx="7620000" cy="36105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2000" y="1942951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701" y="1690985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tenant_id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12802" y="1688157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@NotNull String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79800" y="1688157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string (json:"")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46799" y="1688157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pydantic.UUID4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13798" y="1688157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string (zod)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2000" y="1947714"/>
            <a:ext cx="7620000" cy="36105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62000" y="2304008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9701" y="2052042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12802" y="2049214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LocalDateTime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79800" y="2049214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time.Time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6799" y="2049214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datetime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13798" y="2049214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string ISO8601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2000" y="2308771"/>
            <a:ext cx="7620000" cy="361057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62000" y="2665065"/>
            <a:ext cx="7620000" cy="0"/>
          </a:xfrm>
          <a:prstGeom prst="line">
            <a:avLst/>
          </a:prstGeom>
          <a:noFill/>
          <a:ln w="9525">
            <a:solidFill>
              <a:srgbClr val="E8DD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701" y="2413099"/>
            <a:ext cx="1424839" cy="1428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error_code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12802" y="241027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enum ErrorCode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79800" y="241027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fmt.Errorf("...")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6799" y="241027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IntEnum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3798" y="2410271"/>
            <a:ext cx="1340891" cy="1485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type union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2000" y="2822228"/>
            <a:ext cx="7620000" cy="855762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65150" y="2949178"/>
            <a:ext cx="7357973" cy="159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THE DRIFT PROBLEM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5150" y="3159919"/>
            <a:ext cx="7357973" cy="391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一套语义、四套写法。</a:t>
            </a: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 加字段 → Go orchestrator 透传不知道 → Python 兼容层还在用旧版 → TS 前端类型报错</a:t>
            </a:r>
            <a:r>
              <a:rPr lang="en-US" sz="1100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。人眼对四端，稳定漂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2000" y="3804940"/>
            <a:ext cx="7620000" cy="558403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785813" y="3804940"/>
            <a:ext cx="0" cy="558403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2775" y="3906441"/>
            <a:ext cx="7309396" cy="3554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的价值：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 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review preset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（security/types/behavior/edge/docs 5 维）让 agent 一次扫完四端 → 产出 drift 报告 → ralph-loop 续跑修齐。人只管裁决"保留 / 修 / 显式 deferral"。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53901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 · METRICS · QUALITY IN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444401"/>
            <a:ext cx="7772400" cy="3905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质量的度量：纪律在做功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873026"/>
            <a:ext cx="7772400" cy="200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讲质量不能只讲感觉 · 给你看数字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2000" y="1225451"/>
            <a:ext cx="1809750" cy="116041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1225451"/>
            <a:ext cx="0" cy="116041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801" y="1352401"/>
            <a:ext cx="1444573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77801" y="1784152"/>
            <a:ext cx="144457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MEMORY ENTRIES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77801" y="1923752"/>
            <a:ext cx="144457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每一条都是曾经的事故 · 一次写入，全员受益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98700" y="1225451"/>
            <a:ext cx="1809750" cy="116041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17750" y="1225451"/>
            <a:ext cx="0" cy="116041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4501" y="1352401"/>
            <a:ext cx="1444573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772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914501" y="1784152"/>
            <a:ext cx="144457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AGENT CALLS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14501" y="1923752"/>
            <a:ext cx="144457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125 次 team-impl/debug 并行审 · 大幅收敛盲区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5401" y="1225451"/>
            <a:ext cx="1809750" cy="116041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54451" y="1225451"/>
            <a:ext cx="0" cy="116041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1202" y="1352401"/>
            <a:ext cx="1444573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51202" y="1784152"/>
            <a:ext cx="1444573" cy="114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RALPH-LOOP STARTS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51202" y="1923752"/>
            <a:ext cx="144457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12 次 cancel · </a:t>
            </a:r>
            <a:r>
              <a:rPr lang="en-US" sz="900" b="1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60% 自收敛</a:t>
            </a: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不用人管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72101" y="1225451"/>
            <a:ext cx="1809750" cy="116041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91151" y="1225451"/>
            <a:ext cx="0" cy="1160413"/>
          </a:xfrm>
          <a:prstGeom prst="line">
            <a:avLst/>
          </a:prstGeom>
          <a:noFill/>
          <a:ln w="38100">
            <a:solidFill>
              <a:srgbClr val="CC78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7902" y="1352401"/>
            <a:ext cx="1444573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87902" y="1784152"/>
            <a:ext cx="1444573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E1B16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DEFERRAL 有原文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87902" y="1961852"/>
            <a:ext cx="1444573" cy="2970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本项目已记录的 deferral 都有出处可追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2538264"/>
            <a:ext cx="7620000" cy="1545580"/>
          </a:xfrm>
          <a:prstGeom prst="rect">
            <a:avLst/>
          </a:prstGeom>
          <a:solidFill>
            <a:srgbClr val="1E1B1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5150" y="2665214"/>
            <a:ext cx="7357973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BEFORE / AFTER · 纪律 × 质量对照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5150" y="2877889"/>
            <a:ext cx="155448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部署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16101" y="2877889"/>
            <a:ext cx="77724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19251" y="2877889"/>
            <a:ext cx="546679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漏 Nacos 同步 · 500 错误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一句话走 4 步 SOP，不漏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5150" y="3093690"/>
            <a:ext cx="155448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跨栈契约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16101" y="3093690"/>
            <a:ext cx="77724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19251" y="3093690"/>
            <a:ext cx="546679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人眼对四栈漂移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review preset 五维自动扫，silent drift 大幅减少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5150" y="3309491"/>
            <a:ext cx="155448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长任务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16101" y="3309491"/>
            <a:ext cx="77724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19251" y="3309491"/>
            <a:ext cx="546679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中途忘 · 半途而废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ralph-loop 续跑到 completion-promise 满足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5150" y="3525292"/>
            <a:ext cx="155448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console.log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16101" y="3525292"/>
            <a:ext cx="77724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19251" y="3525292"/>
            <a:ext cx="546679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混进提交 · 污染日志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Stop hook 扫全部改动，自动拦截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65150" y="3741093"/>
            <a:ext cx="155448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review 处理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16101" y="3741093"/>
            <a:ext cx="77724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819251" y="3741093"/>
            <a:ext cx="5466790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全修一轮 3 倍工期 </a:t>
            </a:r>
            <a:r>
              <a:rPr lang="en-US" sz="100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→</a:t>
            </a:r>
            <a:r>
              <a:rPr lang="en-US" sz="1000" dirty="0">
                <a:solidFill>
                  <a:srgbClr val="F7F3ED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ROI 分桶 + 显式 deferral，下次审不重复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2000" y="4210794"/>
            <a:ext cx="7620000" cy="380702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85813" y="4210794"/>
            <a:ext cx="0" cy="380702"/>
          </a:xfrm>
          <a:prstGeom prst="line">
            <a:avLst/>
          </a:prstGeom>
          <a:noFill/>
          <a:ln w="47625">
            <a:solidFill>
              <a:srgbClr val="CC78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775" y="4312295"/>
            <a:ext cx="7309396" cy="17770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核心等式：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纪律条数 × hook 命中率 = 你不再需要重复解释的次数 = </a:t>
            </a: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你省下来的注意力预算</a:t>
            </a:r>
            <a:r>
              <a:rPr lang="en-US" sz="10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7772400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 · QUALITY TRAPS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质量陷阱 · 反模式五则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62000" y="1025426"/>
            <a:ext cx="7772400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5E5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别人的经验里最值钱的，永远是错误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" y="1412677"/>
            <a:ext cx="7620000" cy="52863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5813" y="1412677"/>
            <a:ext cx="0" cy="528638"/>
          </a:xfrm>
          <a:prstGeom prst="line">
            <a:avLst/>
          </a:prstGeom>
          <a:noFill/>
          <a:ln w="47625">
            <a:solidFill>
              <a:srgbClr val="8C7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625" y="1412677"/>
            <a:ext cx="3776662" cy="52863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7326" y="1501527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× 坑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7326" y="1679228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把所有规则塞进超长 CLAUDE.md，读入上下文就满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86288" y="1412677"/>
            <a:ext cx="3795713" cy="528638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95813" y="1412677"/>
            <a:ext cx="0" cy="528638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3038" y="1501527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✓ 改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83038" y="1679228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拆 memory 小文件 + 索引 · </a:t>
            </a: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按需加载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2000" y="2017514"/>
            <a:ext cx="7620000" cy="7018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85813" y="2017514"/>
            <a:ext cx="0" cy="701873"/>
          </a:xfrm>
          <a:prstGeom prst="line">
            <a:avLst/>
          </a:prstGeom>
          <a:noFill/>
          <a:ln w="47625">
            <a:solidFill>
              <a:srgbClr val="8C7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625" y="2017514"/>
            <a:ext cx="3776662" cy="7018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87326" y="2106364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× 坑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87326" y="2284065"/>
            <a:ext cx="3489686" cy="34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 agent 亲自做 security/db/e2e 全套审查 · 漏还容易爆上下文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86288" y="2017514"/>
            <a:ext cx="3795713" cy="701873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95813" y="2017514"/>
            <a:ext cx="0" cy="701873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3038" y="2106364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✓ 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83038" y="2284065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sub-agent 并行 · 主只做 </a:t>
            </a: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调度 + 汇总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2000" y="2795588"/>
            <a:ext cx="7620000" cy="52863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85813" y="2795588"/>
            <a:ext cx="0" cy="528638"/>
          </a:xfrm>
          <a:prstGeom prst="line">
            <a:avLst/>
          </a:prstGeom>
          <a:noFill/>
          <a:ln w="47625">
            <a:solidFill>
              <a:srgbClr val="8C7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625" y="2795588"/>
            <a:ext cx="3776662" cy="52863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87326" y="2884438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× 坑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87326" y="3062139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review finding 全部修完才收工，周期拉 3 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86288" y="2795588"/>
            <a:ext cx="3795713" cy="528638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95813" y="2795588"/>
            <a:ext cx="0" cy="528638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3038" y="2884438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✓ 改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83038" y="3062139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ROI 分桶 + </a:t>
            </a: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显式 deferral 留痕</a:t>
            </a: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，下轮不重复扑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2000" y="3400425"/>
            <a:ext cx="7620000" cy="52863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85813" y="3400425"/>
            <a:ext cx="0" cy="528638"/>
          </a:xfrm>
          <a:prstGeom prst="line">
            <a:avLst/>
          </a:prstGeom>
          <a:noFill/>
          <a:ln w="47625">
            <a:solidFill>
              <a:srgbClr val="8C7A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625" y="3400425"/>
            <a:ext cx="3776662" cy="528638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87326" y="3489275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× 坑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87326" y="3666976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让 AI 自己改生产 allowlist / origin push / K8s 资源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86288" y="3400425"/>
            <a:ext cx="3795713" cy="528638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595813" y="3400425"/>
            <a:ext cx="0" cy="528638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3038" y="3489275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✓ 改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83038" y="3666976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memory：</a:t>
            </a: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涉生产必须等确认</a:t>
            </a: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，AI 只准备不执行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62000" y="4005262"/>
            <a:ext cx="7620000" cy="7018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85813" y="4005262"/>
            <a:ext cx="0" cy="701873"/>
          </a:xfrm>
          <a:prstGeom prst="line">
            <a:avLst/>
          </a:prstGeom>
          <a:noFill/>
          <a:ln w="47625">
            <a:solidFill>
              <a:srgbClr val="8C7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625" y="4005262"/>
            <a:ext cx="3776662" cy="70187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87326" y="4094113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× 坑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87326" y="4271814"/>
            <a:ext cx="3489686" cy="1732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ralph-loop 一句"全部修完"就跑 · 跑偏了也不知道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86288" y="4005262"/>
            <a:ext cx="3795713" cy="701873"/>
          </a:xfrm>
          <a:prstGeom prst="rect">
            <a:avLst/>
          </a:prstGeom>
          <a:solidFill>
            <a:srgbClr val="F0E6D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595813" y="4005262"/>
            <a:ext cx="0" cy="701873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3038" y="4094113"/>
            <a:ext cx="3489686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CC785C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✓ 改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83038" y="4271814"/>
            <a:ext cx="3489686" cy="346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completion-promise 写具体</a:t>
            </a:r>
            <a:r>
              <a:rPr lang="en-US" sz="105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：字段名/接口数/测试通过 — 可字面校验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/>
          <p:cNvSpPr/>
          <p:nvPr/>
        </p:nvSpPr>
        <p:spPr>
          <a:xfrm>
            <a:off x="762000" y="1143000"/>
            <a:ext cx="76200" cy="2793950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"/>
          <p:cNvSpPr/>
          <p:nvPr/>
        </p:nvSpPr>
        <p:spPr>
          <a:xfrm>
            <a:off x="1143000" y="1143000"/>
            <a:ext cx="725413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0"/>
              </a:spcAft>
              <a:buNone/>
            </a:pPr>
            <a:r>
              <a:rPr lang="en-US" sz="1200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13" name="Text 2"/>
          <p:cNvSpPr/>
          <p:nvPr/>
        </p:nvSpPr>
        <p:spPr>
          <a:xfrm>
            <a:off x="1143000" y="1577876"/>
            <a:ext cx="7254139" cy="13412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400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不是替代你，</a:t>
            </a:r>
            <a:endParaRPr lang="en-US" sz="4400" dirty="0"/>
          </a:p>
          <a:p>
            <a:pPr marL="0" indent="0" algn="l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400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是</a:t>
            </a:r>
            <a:endParaRPr lang="en-US" sz="4400" dirty="0"/>
          </a:p>
          <a:p>
            <a:pPr marL="0" indent="0" algn="l">
              <a:lnSpc>
                <a:spcPts val="5280"/>
              </a:lnSpc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放大你的纪律</a:t>
            </a:r>
            <a:r>
              <a:rPr lang="en-US" sz="4400" dirty="0">
                <a:solidFill>
                  <a:srgbClr val="F7F3ED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。</a:t>
            </a:r>
            <a:endParaRPr lang="en-US" sz="4400" dirty="0"/>
          </a:p>
        </p:txBody>
      </p:sp>
      <p:sp>
        <p:nvSpPr>
          <p:cNvPr id="14" name="Text 3"/>
          <p:cNvSpPr/>
          <p:nvPr/>
        </p:nvSpPr>
        <p:spPr>
          <a:xfrm>
            <a:off x="1143000" y="3173016"/>
            <a:ext cx="7254139" cy="57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纪律松的人，用上 AI 只会更快地产出低质量代码。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纪律清晰的人，用上 AI 能一个人扛住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7F3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一整个微服务平台</a:t>
            </a:r>
            <a:r>
              <a:rPr lang="en-US" sz="1500" dirty="0">
                <a:solidFill>
                  <a:srgbClr val="B8A99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。</a:t>
            </a:r>
            <a:endParaRPr lang="en-US" sz="1500" dirty="0"/>
          </a:p>
        </p:txBody>
      </p:sp>
      <p:sp>
        <p:nvSpPr>
          <p:cNvPr id="15" name="Text 4"/>
          <p:cNvSpPr/>
          <p:nvPr/>
        </p:nvSpPr>
        <p:spPr>
          <a:xfrm>
            <a:off x="1143000" y="4327624"/>
            <a:ext cx="145064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8C7A6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— 一人多栈的方法论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269950"/>
            <a:ext cx="76200" cy="2539901"/>
          </a:xfrm>
          <a:prstGeom prst="rect">
            <a:avLst/>
          </a:prstGeom>
          <a:solidFill>
            <a:srgbClr val="CC785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43000" y="1396901"/>
            <a:ext cx="725413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1200" dirty="0">
                <a:solidFill>
                  <a:srgbClr val="8C7A6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3000" y="1781026"/>
            <a:ext cx="7254139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spcAft>
                <a:spcPts val="1600"/>
              </a:spcAft>
              <a:buNone/>
            </a:pPr>
            <a:r>
              <a:rPr lang="en-US" sz="7200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Q</a:t>
            </a:r>
            <a:r>
              <a:rPr lang="en-US" sz="7200" b="1" dirty="0">
                <a:solidFill>
                  <a:srgbClr val="CC785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&amp;</a:t>
            </a:r>
            <a:r>
              <a:rPr lang="en-US" sz="7200" dirty="0">
                <a:solidFill>
                  <a:srgbClr val="1E1B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3000" y="2898577"/>
            <a:ext cx="7254139" cy="3046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3F3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问啥都行 — 场景 / 坑 / memory 怎么写 / sub-agent 怎么编排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3593753"/>
            <a:ext cx="2218283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730228"/>
            <a:ext cx="22626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欢迎带来的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" y="3961954"/>
            <a:ext cx="2262649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你正在做的项目 &amp; 想让 AI 接手的环节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89883" y="3593753"/>
            <a:ext cx="2218283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9883" y="3730228"/>
            <a:ext cx="22626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最想听到的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89883" y="3961954"/>
            <a:ext cx="2262649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"在我这儿行不行" 的具体拆解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6766" y="3593753"/>
            <a:ext cx="2218283" cy="0"/>
          </a:xfrm>
          <a:prstGeom prst="line">
            <a:avLst/>
          </a:prstGeom>
          <a:noFill/>
          <a:ln w="19050">
            <a:solidFill>
              <a:srgbClr val="CC7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6766" y="3730228"/>
            <a:ext cx="2262649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会后继续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6766" y="3961954"/>
            <a:ext cx="2262649" cy="2132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E1B16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slides + memory 模板 共享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4438015"/>
            <a:ext cx="4584065" cy="1847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8C7A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Thanks · </a:t>
            </a: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autobots</a:t>
            </a:r>
            <a:r>
              <a:rPr lang="en-US" sz="1100" b="1" dirty="0">
                <a:solidFill>
                  <a:srgbClr val="CC785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工作台</a:t>
            </a:r>
            <a:r>
              <a:rPr lang="en-US" sz="1100" dirty="0">
                <a:solidFill>
                  <a:srgbClr val="8C7A6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· Claude Code 分享 · 2026.04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2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3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4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5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6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7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8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9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0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1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2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3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4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5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6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7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8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19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20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21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22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23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ags/tag24.xml><?xml version="1.0" encoding="utf-8"?>
<p:tagLst xmlns:p="http://schemas.openxmlformats.org/presentationml/2006/main">
  <p:tag name="KSO_WM_DIAGRAM_VIRTUALLY_FRAME" val="{&quot;height&quot;:304.92188976377946,&quot;left&quot;:60,&quot;top&quot;:89.74220472440945,&quot;width&quot;:6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16990</Words>
  <Application>WPS 演示</Application>
  <PresentationFormat>On-screen Show (16:9)</PresentationFormat>
  <Paragraphs>1466</Paragraphs>
  <Slides>30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3" baseType="lpstr">
      <vt:lpstr>Arial</vt:lpstr>
      <vt:lpstr>宋体</vt:lpstr>
      <vt:lpstr>Wingdings</vt:lpstr>
      <vt:lpstr>Georgia</vt:lpstr>
      <vt:lpstr>Georgia</vt:lpstr>
      <vt:lpstr>Georgia</vt:lpstr>
      <vt:lpstr>Arial</vt:lpstr>
      <vt:lpstr>Arial</vt:lpstr>
      <vt:lpstr>Courier New</vt:lpstr>
      <vt:lpstr>Courier New</vt:lpstr>
      <vt:lpstr>Courier New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儷宋 Pro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一人多栈 - 纪律 × Claude Code × 质量</dc:title>
  <dc:creator>Agentic Platform Team</dc:creator>
  <dc:subject>PptxGenJS Presentation</dc:subject>
  <cp:lastModifiedBy>栋</cp:lastModifiedBy>
  <cp:revision>42</cp:revision>
  <dcterms:created xsi:type="dcterms:W3CDTF">2026-04-24T07:26:45Z</dcterms:created>
  <dcterms:modified xsi:type="dcterms:W3CDTF">2026-04-24T07:26:45Z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409F3DCE8E4C8F5D076FE86905A95C8D_43</vt:lpwstr>
  </property>
</Properties>
</file>